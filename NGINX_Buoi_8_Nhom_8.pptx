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Chào mừng Thầy và các bạn đến với buổi báo cáo chuyên đề Buổi 8 của Nhóm 8. Chủ đề hôm nay tập trung vào: Cấu hình NGINX Reverse Proxy và Upstream nhiều backend. Nhóm 8 gồm 4 thành viên: Nguyễn Đức Mạnh, Nguyễn Tất Mạnh, Đỗ Công Trí, Nguyễn Huy Hoàng.</a:t>
            </a:r>
          </a:p>
          <a:p>
            <a:br/>
            <a:pPr>
              <a:defRPr b="1"/>
            </a:pPr>
            <a:r>
              <a:t>2. THAO TÁC DEMO THỰC HÀNH CỤ THỂ:</a:t>
            </a:r>
          </a:p>
          <a:p>
            <a:r>
              <a:t>Chiếu trang bìa, giới thiệu thành viên và chủ đề báo cáo.</a:t>
            </a:r>
          </a:p>
          <a:p>
            <a:br/>
            <a:pPr>
              <a:defRPr b="1"/>
            </a:pPr>
            <a:r>
              <a:t>3. NGUỒN TÀI LIỆU &amp; CĂN CỨ KỸ THUẬT:</a:t>
            </a:r>
          </a:p>
          <a:p>
            <a:r>
              <a:t>Logo HUCE trích xuất chính thức từ https://huce.edu.vn/he-thong-nhan-dien.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Nhấn mạnh rõ: Buổi 7 của Nhóm 6 đã phác thảo mô hình Docker Compose với Node.js cổng 3000 và NGINX ở mức sơ đồ. Chúng ta coi đó là tài liệu tham chiếu lý thuyết. Trong Buổi 8 này, Nhóm 8 xây dựng một dự án hoàn chỉnh chạy thật: 'HUCE Learning Store' (Cửa hàng học liệu &amp; khóa học công nghệ) với PostgreSQL và shared volume ảnh uploads_data, viết cấu hình thực tế cho NGINX và kiểm chứng từng bước bằng mã nguồn chạy được trong thư mục demo/.</a:t>
            </a:r>
          </a:p>
          <a:p>
            <a:br/>
            <a:pPr>
              <a:defRPr b="1"/>
            </a:pPr>
            <a:r>
              <a:t>2. THAO TÁC DEMO THỰC HÀNH CỤ THỂ:</a:t>
            </a:r>
          </a:p>
          <a:p>
            <a:r>
              <a:t>Giới thiệu lộ trình bài học: từ phục vụ file tĩnh, reverse proxy 1 backend, upstream 2 backend, giới hạn 413, tới HTTPS local.</a:t>
            </a:r>
          </a:p>
          <a:p>
            <a:br/>
            <a:pPr>
              <a:defRPr b="1"/>
            </a:pPr>
            <a:r>
              <a:t>3. NGUỒN TÀI LIỆU &amp; CĂN CỨ KỸ THUẬT:</a:t>
            </a:r>
          </a:p>
          <a:p>
            <a:r>
              <a:t>Tài liệu Buổi 8 PDF Mục 1 &amp; Slide Nhóm 6 Buổi 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Giải thích cho sinh viên hiểu tại sao NGINX lại nhanh: So sánh hình tượng bồi bàn: Mô hình cũ giống 1 khách có 1 bồi bàn đứng chờ (thread-based). NGINX giống 1 bồi bàn phục vụ cả phòng ăn qua cơ chế phát sự kiện (event-driven). Master process chịu trách nhiệm đọc cấu hình, quản lý vòng đời worker. Worker process xử lý I/O mạng thật.</a:t>
            </a:r>
          </a:p>
          <a:p>
            <a:br/>
            <a:pPr>
              <a:defRPr b="1"/>
            </a:pPr>
            <a:r>
              <a:t>2. THAO TÁC DEMO THỰC HÀNH CỤ THỂ:</a:t>
            </a:r>
          </a:p>
          <a:p>
            <a:r>
              <a:t>Vẽ minh họa Master Process và Worker Process lên bảng nếu cần.</a:t>
            </a:r>
          </a:p>
          <a:p>
            <a:br/>
            <a:pPr>
              <a:defRPr b="1"/>
            </a:pPr>
            <a:r>
              <a:t>3. NGUỒN TÀI LIỆU &amp; CĂN CỨ KỸ THUẬT:</a:t>
            </a:r>
          </a:p>
          <a:p>
            <a:r>
              <a:t>NGINX Architecture Whitepaper &amp; nginx.org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Nhấn mạnh với sinh viên: Cả 3 vai trò này đều có thể cấu hình đồng thời trên cùng một tiến trình NGINX duy nhất! Phân biệt Forward Proxy (đại diện cho client đi ra ngoài) và Reverse Proxy (đại diện cho server tiếp nhận client vào). Trong bài thực hành, NGINX đảm nhận cả 3: vừa là web server phục vụ file frontend tĩnh, vừa là reverse proxy cho /api/, vừa cân bằng tải upstream giữa api1 và api2.</a:t>
            </a:r>
          </a:p>
          <a:p>
            <a:br/>
            <a:pPr>
              <a:defRPr b="1"/>
            </a:pPr>
            <a:r>
              <a:t>2. THAO TÁC DEMO THỰC HÀNH CỤ THỂ:</a:t>
            </a:r>
          </a:p>
          <a:p>
            <a:r>
              <a:t>Vẽ mô hình so sánh vị trí của 3 thành phần trên hệ thống minh họa.</a:t>
            </a:r>
          </a:p>
          <a:p>
            <a:br/>
            <a:pPr>
              <a:defRPr b="1"/>
            </a:pPr>
            <a:r>
              <a:t>3. NGUỒN TÀI LIỆU &amp; CĂN CỨ KỸ THUẬT:</a:t>
            </a:r>
          </a:p>
          <a:p>
            <a:r>
              <a:t>Tài liệu Buổi 8 PDF, Mục 1.1 và 1.2.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Giải thích quy trình phân giải tên miền: Khi gõ myapp.local vào trình duyệt, hệ điều hành đọc hosts file trước tiên. Sau khi có IP 127.0.0.1, gói tin tìm tới cổng 8080 hoặc 8443 của host, Docker iptables chuyển tiếp vào cổng 80 hoặc 443 của NGINX container. Khái niệm SSL Termination rất quan trọng: NGINX gánh toàn bộ quá trình mã hóa/giải mã TLS nặng nề, các backend Node.js phía sau chỉ cần xử lý HTTP thuần tại cổng 3000.</a:t>
            </a:r>
          </a:p>
          <a:p>
            <a:br/>
            <a:pPr>
              <a:defRPr b="1"/>
            </a:pPr>
            <a:r>
              <a:t>2. THAO TÁC DEMO THỰC HÀNH CỤ THỂ:</a:t>
            </a:r>
          </a:p>
          <a:p>
            <a:r>
              <a:t>Vẽ luồng IP và ánh xạ cổng host:container lên bảng.</a:t>
            </a:r>
          </a:p>
          <a:p>
            <a:br/>
            <a:pPr>
              <a:defRPr b="1"/>
            </a:pPr>
            <a:r>
              <a:t>3. NGUỒN TÀI LIỆU &amp; CĂN CỨ KỸ THUẬT:</a:t>
            </a:r>
          </a:p>
          <a:p>
            <a:r>
              <a:t>RFC 2616 (HTTP/1.1), RFC 8446 (TLS 1.3).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Slide này minh họa trực quan luồng đi của 1 request: 1. Client chỉ biết duy nhất 1 địa chỉ máy chủ: myapp.local:8080. 2. NGINX phân tích tiền tố URI: Nếu là / -&gt; Đọc file tĩnh trên đĩa trả về ngay. 3. Nếu là /api/... -&gt; NGINX ủy quyền (proxy_pass) sang cụm upstream api1/api2 ở cổng 3000.</a:t>
            </a:r>
          </a:p>
          <a:p>
            <a:br/>
            <a:pPr>
              <a:defRPr b="1"/>
            </a:pPr>
            <a:r>
              <a:t>2. THAO TÁC DEMO THỰC HÀNH CỤ THỂ:</a:t>
            </a:r>
          </a:p>
          <a:p>
            <a:r>
              <a:t>Trình bày chi tiết luồng dữ liệu 2 nhánh: File tĩnh và API nghiệp vụ.</a:t>
            </a:r>
          </a:p>
          <a:p>
            <a:br/>
            <a:pPr>
              <a:defRPr b="1"/>
            </a:pPr>
            <a:r>
              <a:t>3. NGUỒN TÀI LIỆU &amp; CĂN CỨ KỸ THUẬT:</a:t>
            </a:r>
          </a:p>
          <a:p>
            <a:r>
              <a:t>Tài liệu Buổi 8 PDF, Mục 2: Cấu hình Reverse Proxy.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Giải thích sự khác biệt giữa hai trường phái: 1. Linux truyền thống: Dùng symlink giữa sites-available và sites-enabled để dễ bật/tắt site bằng cách xóa symlink mà không mất file. 2. Docker Container: Ưu tiên đơn giản, khai báo trong compose.yaml và mount thẳng vào /etc/nginx/conf.d/default.conf. Nhấn mạnh luôn kiểm tra nginx -t trước khi reload.</a:t>
            </a:r>
          </a:p>
          <a:p>
            <a:br/>
            <a:pPr>
              <a:defRPr b="1"/>
            </a:pPr>
            <a:r>
              <a:t>2. THAO TÁC DEMO THỰC HÀNH CỤ THỂ:</a:t>
            </a:r>
          </a:p>
          <a:p>
            <a:r>
              <a:t>Thao tác demo: Mở tệp compose.yaml chỉ cho sinh viên thấy dòng volumes mount cấu hình NGINX.</a:t>
            </a:r>
          </a:p>
          <a:p>
            <a:br/>
            <a:pPr>
              <a:defRPr b="1"/>
            </a:pPr>
            <a:r>
              <a:t>3. NGUỒN TÀI LIỆU &amp; CĂN CỨ KỸ THUẬT:</a:t>
            </a:r>
          </a:p>
          <a:p>
            <a:r>
              <a:t>Debian NGINX Packaging Documentation &amp; Docker Hub Official NGINX Image.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Bước 1 trong Section 3 của Đề bài PDF: NGINX đóng vai trò Web Server thuần túy. Giải thích sendfile on: NGINX yêu cầu Linux kernel đọc dữ liệu từ file descriptor sang network socket mà không cần copy qua userspace buffer. Điều này giải thích tại sao NGINX phục vụ file tĩnh nhanh hơn Node.js/Tomcat gấp nhiều lần.</a:t>
            </a:r>
          </a:p>
          <a:p>
            <a:br/>
            <a:pPr>
              <a:defRPr b="1"/>
            </a:pPr>
            <a:r>
              <a:t>2. THAO TÁC DEMO THỰC HÀNH CỤ THỂ:</a:t>
            </a:r>
          </a:p>
          <a:p>
            <a:r>
              <a:t>Thao tác demo: Mở trình duyệt gõ http://localhost:8080/, mở F12 Network tab xem status 200 OK của index.html, style.css, app.js.</a:t>
            </a:r>
          </a:p>
          <a:p>
            <a:br/>
            <a:pPr>
              <a:defRPr b="1"/>
            </a:pPr>
            <a:r>
              <a:t>3. NGUỒN TÀI LIỆU &amp; CĂN CỨ KỸ THUẬT:</a:t>
            </a:r>
          </a:p>
          <a:p>
            <a:r>
              <a:t>Tài liệu Buổi 8 PDF, Mục 3 - Bước 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Câu hỏi phỏng vấn kinh điển: 'Tại sao deploy React/Vue lên NGINX bấm link thì chuyển trang được nhưng F5 lại bị 404?' Giải thích: Client-side routing không tạo file vật lý trên server. Chỉ thị try_files $uri $uri/ /index.html; chính là chìa khóa để mọi route ảo đều fallback về index.html an toàn.</a:t>
            </a:r>
          </a:p>
          <a:p>
            <a:br/>
            <a:pPr>
              <a:defRPr b="1"/>
            </a:pPr>
            <a:r>
              <a:t>2. THAO TÁC DEMO THỰC HÀNH CỤ THỂ:</a:t>
            </a:r>
          </a:p>
          <a:p>
            <a:r>
              <a:t>Vẽ chuỗi điều kiện kiểm tra của try_files lên bảng.</a:t>
            </a:r>
          </a:p>
          <a:p>
            <a:br/>
            <a:pPr>
              <a:defRPr b="1"/>
            </a:pPr>
            <a:r>
              <a:t>3. NGUỒN TÀI LIỆU &amp; CĂN CỨ KỸ THUẬT:</a:t>
            </a:r>
          </a:p>
          <a:p>
            <a:r>
              <a:t>NGINX try_files directive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Bước 2 trong Section 3 PDF: Reverse Proxy ghép cặp Frontend và 1 Backend API. Lưu ý quan trọng: Ứng dụng HUCE Learning Store cung cấp dữ liệu sách và khóa học thật lưu trong CSDL PostgreSQL (db:5432) qua kiến trúc Controller - Service - Repository. Giải thích kỹ: Same-Origin giúp tránh lỗi CORS cho luồng gọi nội bộ giữa FE và BE, nhưng nếu có ứng dụng bên ngoài gọi vào thì vẫn phải áp dụng chính sách CORS. Quy tắc dấu slash: Nếu viết proxy_pass http://backend_cluster/ (có slash cuối), NGINX sẽ cắt bỏ /api/ và chỉ gửi /products tới backend.</a:t>
            </a:r>
          </a:p>
          <a:p>
            <a:br/>
            <a:pPr>
              <a:defRPr b="1"/>
            </a:pPr>
            <a:r>
              <a:t>2. THAO TÁC DEMO THỰC HÀNH CỤ THỂ:</a:t>
            </a:r>
          </a:p>
          <a:p>
            <a:r>
              <a:t>Thao tác demo: Mở giao diện web, xem danh mục sách và khóa học từ DB, thêm vào giỏ và đặt hàng, mở F12 Network tab xem status 200/201 tại cùng origin.</a:t>
            </a:r>
          </a:p>
          <a:p>
            <a:br/>
            <a:pPr>
              <a:defRPr b="1"/>
            </a:pPr>
            <a:r>
              <a:t>3. NGUỒN TÀI LIỆU &amp; CĂN CỨ KỸ THUẬT:</a:t>
            </a:r>
          </a:p>
          <a:p>
            <a:r>
              <a:t>Tài liệu Buổi 8 PDF, Mục 3 - Bước 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Nhấn mạnh với sinh viên: Khi client đi qua NGINX, kết nối TCP thực tế với backend là từ container NGINX. Do đó req.socket.remoteAddress trên Node.js luôn là IP container NGINX (ví dụ 172.20.0.3). Nếu không có X-Real-IP và X-Forwarded-For, backend hoàn toàn mù tịt về người dùng thật. Tuy nhiên, phải cấu hình Trusted Proxy ở backend để tránh bị kẻ tấn công gửi header giả mạo.</a:t>
            </a:r>
          </a:p>
          <a:p>
            <a:br/>
            <a:pPr>
              <a:defRPr b="1"/>
            </a:pPr>
            <a:r>
              <a:t>2. THAO TÁC DEMO THỰC HÀNH CỤ THỂ:</a:t>
            </a:r>
          </a:p>
          <a:p>
            <a:r>
              <a:t>Thao tác demo: Bấm nút 'Lấy thông tin Header (GET /api/info)' trên giao diện demo để quan sát JSON các header backend nhận được.</a:t>
            </a:r>
          </a:p>
          <a:p>
            <a:br/>
            <a:pPr>
              <a:defRPr b="1"/>
            </a:pPr>
            <a:r>
              <a:t>3. NGUỒN TÀI LIỆU &amp; CĂN CỨ KỸ THUẬT:</a:t>
            </a:r>
          </a:p>
          <a:p>
            <a:r>
              <a:t>MDN Web Docs: Forwarded Headers &amp; Express.js Trust Proxy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Bước 3 trong Section 3 PDF: Upstream với 2 backend instances. Giải thích thuật toán: Round-Robin là mặc định. Ngoài ra có least_conn (thích hợp request thời gian xử lý lệch nhau) và ip_hash (session persistence). Lưu ý kỹ thuật chính xác: Hai backend giúp tránh chết toàn hệ thống khi 1 backend crash. Tuy nhiên, NGINX hiện vẫn là Single Point of Failure (SPOF). Trên thực tế muốn HA toàn diện cần chạy 2 NGINX kết hợp Keepalived (VRRP) chia sẻ Virtual IP.</a:t>
            </a:r>
          </a:p>
          <a:p>
            <a:br/>
            <a:pPr>
              <a:defRPr b="1"/>
            </a:pPr>
            <a:r>
              <a:t>2. THAO TÁC DEMO THỰC HÀNH CỤ THỂ:</a:t>
            </a:r>
          </a:p>
          <a:p>
            <a:r>
              <a:t>Thao tác demo: Bấm nút 'Gửi liên tiếp 10 request' trên giao diện web, quan sát bộ đếm api1 và api2 tăng đều.</a:t>
            </a:r>
          </a:p>
          <a:p>
            <a:br/>
            <a:pPr>
              <a:defRPr b="1"/>
            </a:pPr>
            <a:r>
              <a:t>3. NGUỒN TÀI LIỆU &amp; CĂN CỨ KỸ THUẬT:</a:t>
            </a:r>
          </a:p>
          <a:p>
            <a:r>
              <a:t>Tài liệu Buổi 8 PDF, Mục 3 - Bước 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Nhấn mạnh mạnh mẽ lỗi kinh điển của người mới học Docker: Dùng localhost trong nginx.conf để gọi backend -&gt; bị lỗi 502 Bad Gateway. Giải thích rõ: Container NGINX và container Backend là 2 máy ảo logic khác nhau trên mạng bridge. Docker tích hợp sẵn DNS server nội bộ tại IP 127.0.0.11 để giải quyết bài toán Service Discovery này.</a:t>
            </a:r>
          </a:p>
          <a:p>
            <a:br/>
            <a:pPr>
              <a:defRPr b="1"/>
            </a:pPr>
            <a:r>
              <a:t>2. THAO TÁC DEMO THỰC HÀNH CỤ THỂ:</a:t>
            </a:r>
          </a:p>
          <a:p>
            <a:r>
              <a:t>Thao tác demo: Vào container NGINX chạy 'nslookup api1' để chứng minh Docker DNS phân giải IP 172.x.x.x.</a:t>
            </a:r>
          </a:p>
          <a:p>
            <a:br/>
            <a:pPr>
              <a:defRPr b="1"/>
            </a:pPr>
            <a:r>
              <a:t>3. NGUỒN TÀI LIỆU &amp; CĂN CỨ KỸ THUẬT:</a:t>
            </a:r>
          </a:p>
          <a:p>
            <a:r>
              <a:t>Docker Compose Networking Reference.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Đây là bức tranh ghép hoàn chỉnh của toàn bộ bài học: Một Server Block thống nhất chứa: upstream, listen, server_name, client_max_body_size, location tĩnh và location API. Lưu ý: Đã đổi tên nhãn thành 'Cấu hình mẫu thực hành' thay vì 'Production Standard' để phản ánh đúng ngữ cảnh bài lab (trong môi trường thực hành cổng 8080/8443).</a:t>
            </a:r>
          </a:p>
          <a:p>
            <a:br/>
            <a:pPr>
              <a:defRPr b="1"/>
            </a:pPr>
            <a:r>
              <a:t>2. THAO TÁC DEMO THỰC HÀNH CỤ THỂ:</a:t>
            </a:r>
          </a:p>
          <a:p>
            <a:r>
              <a:t>Chỉ rõ từng khối trên slide cho sinh viên nắm bắt cấu trúc.</a:t>
            </a:r>
          </a:p>
          <a:p>
            <a:br/>
            <a:pPr>
              <a:defRPr b="1"/>
            </a:pPr>
            <a:r>
              <a:t>3. NGUỒN TÀI LIỆU &amp; CĂN CỨ KỸ THUẬT:</a:t>
            </a:r>
          </a:p>
          <a:p>
            <a:r>
              <a:t>NGINX Core Directives Reference.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Bước 5 trong Section 3 PDF: Request body limit và hot reload. Nhấn mạnh chính xác về mặt kỹ thuật: client_max_body_size là cơ chế kiểm soát tài nguyên bộ nhớ/đĩa đệm và chống DoS, không phải cơ chế chống tràn bộ đệm (buffer overflow). Quy trình reload của NGINX: Master process nhận tín hiệu HUP (-s reload), kiểm tra lại cú pháp, khởi tạo worker pool mới phục vụ các request mới, đồng thời gửi tín hiệu QUIT cho worker cũ để phục vụ nốt các kết nối đang dang dở rồi mới kết thúc an toàn.</a:t>
            </a:r>
          </a:p>
          <a:p>
            <a:br/>
            <a:pPr>
              <a:defRPr b="1"/>
            </a:pPr>
            <a:r>
              <a:t>2. THAO TÁC DEMO THỰC HÀNH CỤ THỂ:</a:t>
            </a:r>
          </a:p>
          <a:p>
            <a:r>
              <a:t>Thao tác demo: Chọn file ảnh mẫu 1.34 MB trên giao diện, bấm Upload nhận mã 413. Sau đó chuyển stage 5 (20m), reload và bấm lại nút Upload nhận mã 200 OK.</a:t>
            </a:r>
          </a:p>
          <a:p>
            <a:br/>
            <a:pPr>
              <a:defRPr b="1"/>
            </a:pPr>
            <a:r>
              <a:t>3. NGUỒN TÀI LIỆU &amp; CĂN CỨ KỸ THUẬT:</a:t>
            </a:r>
          </a:p>
          <a:p>
            <a:r>
              <a:t>Tài liệu Buổi 8 PDF, Mục 3 - Bước 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Rất nhiều sinh viên nhầm lẫn ở điểm này: Khi chạy Docker trong WSL2 nhưng mở Chrome trên Windows để test, sinh viên lại vào WSL gõ nano /etc/hosts và thắc mắc tại sao Chrome không vào được myapp.local! Giải thích rõ: Trình duyệt chạy ở đâu thì tra cứu DNS/hosts tại hệ điều hành đó.</a:t>
            </a:r>
          </a:p>
          <a:p>
            <a:br/>
            <a:pPr>
              <a:defRPr b="1"/>
            </a:pPr>
            <a:r>
              <a:t>2. THAO TÁC DEMO THỰC HÀNH CỤ THỂ:</a:t>
            </a:r>
          </a:p>
          <a:p>
            <a:r>
              <a:t>Hướng dẫn sinh viên cách mở Notepad Run as Administrator để sửa file hosts trên Windows.</a:t>
            </a:r>
          </a:p>
          <a:p>
            <a:br/>
            <a:pPr>
              <a:defRPr b="1"/>
            </a:pPr>
            <a:r>
              <a:t>3. NGUỒN TÀI LIỆU &amp; CĂN CỨ KỸ THUẬT:</a:t>
            </a:r>
          </a:p>
          <a:p>
            <a:r>
              <a:t>Microsoft WSL Networking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Bước 6 trong Section 3 PDF: Domain local và HTTPS tự ký. Điểm kỹ thuật quan trọng: Lệnh OpenSSL hiện đại bắt buộc phải có Subject Alternative Name (SAN: DNS:myapp.local), vì các trình duyệt từ Chrome 58+ đã loại bỏ hoàn toàn việc chỉ đọc Common Name (CN). Giải thích bản chất: Chứng chỉ tự ký vẫn mã hóa kênh truyền tốt, nhưng không chứng minh được danh tính server. Nút Proceed to myapp.local có thể bị ẩn nếu domain đã từng bật HSTS.</a:t>
            </a:r>
          </a:p>
          <a:p>
            <a:br/>
            <a:pPr>
              <a:defRPr b="1"/>
            </a:pPr>
            <a:r>
              <a:t>2. THAO TÁC DEMO THỰC HÀNH CỤ THỂ:</a:t>
            </a:r>
          </a:p>
          <a:p>
            <a:r>
              <a:t>Thao tác demo: Chạy script generate_cert.ps1 hoặc generate_cert.sh trong demo/ssl/, khởi động HTTPS NGINX và truy cập https://myapp.local:8443.</a:t>
            </a:r>
          </a:p>
          <a:p>
            <a:br/>
            <a:pPr>
              <a:defRPr b="1"/>
            </a:pPr>
            <a:r>
              <a:t>3. NGUỒN TÀI LIỆU &amp; CĂN CỨ KỸ THUẬT:</a:t>
            </a:r>
          </a:p>
          <a:p>
            <a:r>
              <a:t>RFC 5280 (X.509 PKI) &amp; RFC 2818 (HTTP Over TLS).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Làm rõ điểm lý thuyết quan trọng: 1. Phân biệt rõ chứng chỉ tự ký (.local) và chứng chỉ công khai (Let's Encrypt / DigiCert). 2. Certbot không thể dùng cho myapp.local vì Let's Encrypt CA trên Internet không thể phân giải tên miền nội bộ của bạn. 3. Thời hạn chứng chỉ: Let's Encrypt là 90 ngày, nhưng các chứng chỉ thương mại khác có thể lên tới 397 ngày theo chuẩn CA/Browser Forum. 4. Tránh mô tả 'ổ khóa xanh' vì các trình duyệt hiện đại (Chrome 117+) đã đổi sang biểu tượng cài đặt (tune icon) trung tính.</a:t>
            </a:r>
          </a:p>
          <a:p>
            <a:br/>
            <a:pPr>
              <a:defRPr b="1"/>
            </a:pPr>
            <a:r>
              <a:t>2. THAO TÁC DEMO THỰC HÀNH CỤ THỂ:</a:t>
            </a:r>
          </a:p>
          <a:p>
            <a:r>
              <a:t>Vẽ chuỗi xác thực từ Server Certificate ngược lên Root CA trong Trust Store hệ điều hành.</a:t>
            </a:r>
          </a:p>
          <a:p>
            <a:br/>
            <a:pPr>
              <a:defRPr b="1"/>
            </a:pPr>
            <a:r>
              <a:t>3. NGUỒN TÀI LIỆU &amp; CĂN CỨ KỸ THUẬT:</a:t>
            </a:r>
          </a:p>
          <a:p>
            <a:r>
              <a:t>Let's Encrypt Chain of Trust Overview &amp; CA/Browser Forum Baseline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Kỹ năng xử lý sự cố là tiêu chí quan trọng nhất khi vận hành hệ thống: 1. Luôn xem error.log đầu tiên: Mọi lỗi kết nối, từ chối quyền, sai đường dẫn đều được ghi nhận chi tiết tại đây. 2. Nhận diện ngay mã lỗi: 404 là tầng định tuyến/file tĩnh; 413 là tầng kích thước body; 502 là tầng backend không phản hồi hoặc sai cấu hình proxy_pass.</a:t>
            </a:r>
          </a:p>
          <a:p>
            <a:br/>
            <a:pPr>
              <a:defRPr b="1"/>
            </a:pPr>
            <a:r>
              <a:t>2. THAO TÁC DEMO THỰC HÀNH CỤ THỂ:</a:t>
            </a:r>
          </a:p>
          <a:p>
            <a:r>
              <a:t>Hướng dẫn sinh viên cách chạy docker compose logs -f proxy để soi log khi demo thực tế.</a:t>
            </a:r>
          </a:p>
          <a:p>
            <a:br/>
            <a:pPr>
              <a:defRPr b="1"/>
            </a:pPr>
            <a:r>
              <a:t>3. NGUỒN TÀI LIỆU &amp; CĂN CỨ KỸ THUẬT:</a:t>
            </a:r>
          </a:p>
          <a:p>
            <a:r>
              <a:t>NGINX Troubleshooting and Error Handling Guide.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Tóm tắt toàn bộ 6 bước thực hành theo đúng cấu trúc Đề cương PDF Buổi 8 Mục 3. Khẳng định vai trò của NGINX: Không chỉ là một web server đơn thuần, mà là mắt xích trung tâm quản trị toàn bộ lưu lượng của hệ thống phân tán.</a:t>
            </a:r>
          </a:p>
          <a:p>
            <a:br/>
            <a:pPr>
              <a:defRPr b="1"/>
            </a:pPr>
            <a:r>
              <a:t>2. THAO TÁC DEMO THỰC HÀNH CỤ THỂ:</a:t>
            </a:r>
          </a:p>
          <a:p>
            <a:r>
              <a:t>Chiếu bảng tổng kết, giải đáp thắc mắc của Giảng viên và các nhóm bạn học.</a:t>
            </a:r>
          </a:p>
          <a:p>
            <a:br/>
            <a:pPr>
              <a:defRPr b="1"/>
            </a:pPr>
            <a:r>
              <a:t>3. NGUỒN TÀI LIỆU &amp; CĂN CỨ KỸ THUẬT:</a:t>
            </a:r>
          </a:p>
          <a:p>
            <a:r>
              <a:t>Tài liệu Buổi 8 PDF, Mục 3 - Kịch bản Thực hành Tổng thể.</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036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uce_logo.png"/>
          <p:cNvPicPr>
            <a:picLocks noChangeAspect="1"/>
          </p:cNvPicPr>
          <p:nvPr/>
        </p:nvPicPr>
        <p:blipFill>
          <a:blip r:embed="rId2"/>
          <a:stretch>
            <a:fillRect/>
          </a:stretch>
        </p:blipFill>
        <p:spPr>
          <a:xfrm>
            <a:off x="1097280" y="594360"/>
            <a:ext cx="1157791" cy="1143000"/>
          </a:xfrm>
          <a:prstGeom prst="rect">
            <a:avLst/>
          </a:prstGeom>
        </p:spPr>
      </p:pic>
      <p:sp>
        <p:nvSpPr>
          <p:cNvPr id="5" name="TextBox 4"/>
          <p:cNvSpPr txBox="1"/>
          <p:nvPr/>
        </p:nvSpPr>
        <p:spPr>
          <a:xfrm>
            <a:off x="2468880" y="685800"/>
            <a:ext cx="8686800" cy="914400"/>
          </a:xfrm>
          <a:prstGeom prst="rect">
            <a:avLst/>
          </a:prstGeom>
          <a:noFill/>
        </p:spPr>
        <p:txBody>
          <a:bodyPr wrap="square" lIns="0" tIns="0" rIns="0" bIns="0">
            <a:spAutoFit/>
          </a:bodyPr>
          <a:lstStyle/>
          <a:p>
            <a:pPr>
              <a:defRPr sz="1700" b="1">
                <a:solidFill>
                  <a:srgbClr val="103672"/>
                </a:solidFill>
                <a:latin typeface="Segoe UI"/>
              </a:defRPr>
            </a:pPr>
            <a:r>
              <a:t>TRƯỜNG ĐẠI HỌC XÂY DỰNG HÀ NỘI</a:t>
            </a:r>
          </a:p>
          <a:p>
            <a:pPr>
              <a:defRPr sz="1200">
                <a:solidFill>
                  <a:srgbClr val="475569"/>
                </a:solidFill>
                <a:latin typeface="Segoe UI"/>
              </a:defRPr>
            </a:pPr>
            <a:r>
              <a:t>KHOA CÔNG NGHỆ THÔNG TIN • HỆ THỐNG SERVER NÂNG CAO</a:t>
            </a:r>
          </a:p>
        </p:txBody>
      </p:sp>
      <p:sp>
        <p:nvSpPr>
          <p:cNvPr id="6" name="TextBox 5"/>
          <p:cNvSpPr txBox="1"/>
          <p:nvPr/>
        </p:nvSpPr>
        <p:spPr>
          <a:xfrm>
            <a:off x="1097280" y="1920240"/>
            <a:ext cx="10058400" cy="2011680"/>
          </a:xfrm>
          <a:prstGeom prst="rect">
            <a:avLst/>
          </a:prstGeom>
          <a:noFill/>
        </p:spPr>
        <p:txBody>
          <a:bodyPr wrap="square" lIns="0" tIns="0" rIns="0" bIns="0">
            <a:spAutoFit/>
          </a:bodyPr>
          <a:lstStyle/>
          <a:p>
            <a:pPr>
              <a:defRPr sz="2400" b="1">
                <a:solidFill>
                  <a:srgbClr val="1C64BA"/>
                </a:solidFill>
                <a:latin typeface="Segoe UI"/>
              </a:defRPr>
            </a:pPr>
            <a:r>
              <a:t>BUỔI 8</a:t>
            </a:r>
          </a:p>
          <a:p>
            <a:pPr>
              <a:spcAft>
                <a:spcPts val="200"/>
              </a:spcAft>
              <a:defRPr sz="3000" b="1">
                <a:solidFill>
                  <a:srgbClr val="103672"/>
                </a:solidFill>
                <a:latin typeface="Segoe UI"/>
              </a:defRPr>
            </a:pPr>
            <a:r>
              <a:t>CẤU HÌNH NGINX REVERSE PROXY – UPSTREAM NHIỀU BACKEND</a:t>
            </a:r>
          </a:p>
          <a:p>
            <a:pPr>
              <a:defRPr sz="2000" b="1">
                <a:solidFill>
                  <a:srgbClr val="0284C7"/>
                </a:solidFill>
                <a:latin typeface="Segoe UI"/>
              </a:defRPr>
            </a:pPr>
            <a:r>
              <a:t>NHÓM 8</a:t>
            </a:r>
          </a:p>
        </p:txBody>
      </p:sp>
      <p:graphicFrame>
        <p:nvGraphicFramePr>
          <p:cNvPr id="7" name="Table 6"/>
          <p:cNvGraphicFramePr>
            <a:graphicFrameLocks noGrp="1"/>
          </p:cNvGraphicFramePr>
          <p:nvPr/>
        </p:nvGraphicFramePr>
        <p:xfrm>
          <a:off x="1097280" y="4160520"/>
          <a:ext cx="5943600" cy="1783080"/>
        </p:xfrm>
        <a:graphic>
          <a:graphicData uri="http://schemas.openxmlformats.org/drawingml/2006/table">
            <a:tbl>
              <a:tblPr firstRow="1" bandRow="1">
                <a:tableStyleId>{5C22544A-7EE6-4342-B048-85BDC9FD1C3A}</a:tableStyleId>
              </a:tblPr>
              <a:tblGrid>
                <a:gridCol w="2011680"/>
                <a:gridCol w="3931920"/>
              </a:tblGrid>
              <a:tr h="356616">
                <a:tc>
                  <a:txBody>
                    <a:bodyPr/>
                    <a:lstStyle/>
                    <a:p>
                      <a:pPr>
                        <a:defRPr sz="1200" b="1">
                          <a:solidFill>
                            <a:srgbClr val="FFFFFF"/>
                          </a:solidFill>
                          <a:latin typeface="Segoe UI"/>
                        </a:defRPr>
                      </a:pPr>
                      <a:r>
                        <a:t>MÃ SINH VIÊN</a:t>
                      </a:r>
                    </a:p>
                  </a:txBody>
                  <a:tcPr anchor="ctr" marL="164592" marR="164592">
                    <a:solidFill>
                      <a:srgbClr val="103672"/>
                    </a:solidFill>
                  </a:tcPr>
                </a:tc>
                <a:tc>
                  <a:txBody>
                    <a:bodyPr/>
                    <a:lstStyle/>
                    <a:p>
                      <a:pPr>
                        <a:defRPr sz="1200" b="1">
                          <a:solidFill>
                            <a:srgbClr val="FFFFFF"/>
                          </a:solidFill>
                          <a:latin typeface="Segoe UI"/>
                        </a:defRPr>
                      </a:pPr>
                      <a:r>
                        <a:t>HỌ VÀ TÊN SINH VIÊN</a:t>
                      </a:r>
                    </a:p>
                  </a:txBody>
                  <a:tcPr anchor="ctr" marL="164592" marR="164592">
                    <a:solidFill>
                      <a:srgbClr val="103672"/>
                    </a:solidFill>
                  </a:tcPr>
                </a:tc>
              </a:tr>
              <a:tr h="356616">
                <a:tc>
                  <a:txBody>
                    <a:bodyPr/>
                    <a:lstStyle/>
                    <a:p>
                      <a:pPr>
                        <a:defRPr sz="1200" b="1">
                          <a:solidFill>
                            <a:srgbClr val="0F172A"/>
                          </a:solidFill>
                          <a:latin typeface="Segoe UI"/>
                        </a:defRPr>
                      </a:pPr>
                      <a:r>
                        <a:t>0210668</a:t>
                      </a:r>
                    </a:p>
                  </a:txBody>
                  <a:tcPr anchor="ctr" marL="164592" marR="164592">
                    <a:solidFill>
                      <a:srgbClr val="F8FAFC"/>
                    </a:solidFill>
                  </a:tcPr>
                </a:tc>
                <a:tc>
                  <a:txBody>
                    <a:bodyPr/>
                    <a:lstStyle/>
                    <a:p>
                      <a:pPr>
                        <a:defRPr sz="1200" b="1">
                          <a:solidFill>
                            <a:srgbClr val="0F172A"/>
                          </a:solidFill>
                          <a:latin typeface="Segoe UI"/>
                        </a:defRPr>
                      </a:pPr>
                      <a:r>
                        <a:t>Nguyễn Đức Mạnh</a:t>
                      </a:r>
                    </a:p>
                  </a:txBody>
                  <a:tcPr anchor="ctr" marL="164592" marR="164592">
                    <a:solidFill>
                      <a:srgbClr val="F8FAFC"/>
                    </a:solidFill>
                  </a:tcPr>
                </a:tc>
              </a:tr>
              <a:tr h="356616">
                <a:tc>
                  <a:txBody>
                    <a:bodyPr/>
                    <a:lstStyle/>
                    <a:p>
                      <a:pPr>
                        <a:defRPr sz="1200" b="1">
                          <a:solidFill>
                            <a:srgbClr val="0F172A"/>
                          </a:solidFill>
                          <a:latin typeface="Segoe UI"/>
                        </a:defRPr>
                      </a:pPr>
                      <a:r>
                        <a:t>0210768</a:t>
                      </a:r>
                    </a:p>
                  </a:txBody>
                  <a:tcPr anchor="ctr" marL="164592" marR="164592">
                    <a:solidFill>
                      <a:srgbClr val="FFFFFF"/>
                    </a:solidFill>
                  </a:tcPr>
                </a:tc>
                <a:tc>
                  <a:txBody>
                    <a:bodyPr/>
                    <a:lstStyle/>
                    <a:p>
                      <a:pPr>
                        <a:defRPr sz="1200" b="1">
                          <a:solidFill>
                            <a:srgbClr val="0F172A"/>
                          </a:solidFill>
                          <a:latin typeface="Segoe UI"/>
                        </a:defRPr>
                      </a:pPr>
                      <a:r>
                        <a:t>Nguyễn Tất Mạnh</a:t>
                      </a:r>
                    </a:p>
                  </a:txBody>
                  <a:tcPr anchor="ctr" marL="164592" marR="164592">
                    <a:solidFill>
                      <a:srgbClr val="FFFFFF"/>
                    </a:solidFill>
                  </a:tcPr>
                </a:tc>
              </a:tr>
              <a:tr h="356616">
                <a:tc>
                  <a:txBody>
                    <a:bodyPr/>
                    <a:lstStyle/>
                    <a:p>
                      <a:pPr>
                        <a:defRPr sz="1200" b="1">
                          <a:solidFill>
                            <a:srgbClr val="0F172A"/>
                          </a:solidFill>
                          <a:latin typeface="Segoe UI"/>
                        </a:defRPr>
                      </a:pPr>
                      <a:r>
                        <a:t>0214268</a:t>
                      </a:r>
                    </a:p>
                  </a:txBody>
                  <a:tcPr anchor="ctr" marL="164592" marR="164592">
                    <a:solidFill>
                      <a:srgbClr val="F8FAFC"/>
                    </a:solidFill>
                  </a:tcPr>
                </a:tc>
                <a:tc>
                  <a:txBody>
                    <a:bodyPr/>
                    <a:lstStyle/>
                    <a:p>
                      <a:pPr>
                        <a:defRPr sz="1200" b="1">
                          <a:solidFill>
                            <a:srgbClr val="0F172A"/>
                          </a:solidFill>
                          <a:latin typeface="Segoe UI"/>
                        </a:defRPr>
                      </a:pPr>
                      <a:r>
                        <a:t>Đỗ Công Trí</a:t>
                      </a:r>
                    </a:p>
                  </a:txBody>
                  <a:tcPr anchor="ctr" marL="164592" marR="164592">
                    <a:solidFill>
                      <a:srgbClr val="F8FAFC"/>
                    </a:solidFill>
                  </a:tcPr>
                </a:tc>
              </a:tr>
              <a:tr h="356616">
                <a:tc>
                  <a:txBody>
                    <a:bodyPr/>
                    <a:lstStyle/>
                    <a:p>
                      <a:pPr>
                        <a:defRPr sz="1200" b="1">
                          <a:solidFill>
                            <a:srgbClr val="0F172A"/>
                          </a:solidFill>
                          <a:latin typeface="Segoe UI"/>
                        </a:defRPr>
                      </a:pPr>
                      <a:r>
                        <a:t>0208368</a:t>
                      </a:r>
                    </a:p>
                  </a:txBody>
                  <a:tcPr anchor="ctr" marL="164592" marR="164592">
                    <a:solidFill>
                      <a:srgbClr val="FFFFFF"/>
                    </a:solidFill>
                  </a:tcPr>
                </a:tc>
                <a:tc>
                  <a:txBody>
                    <a:bodyPr/>
                    <a:lstStyle/>
                    <a:p>
                      <a:pPr>
                        <a:defRPr sz="1200" b="1">
                          <a:solidFill>
                            <a:srgbClr val="0F172A"/>
                          </a:solidFill>
                          <a:latin typeface="Segoe UI"/>
                        </a:defRPr>
                      </a:pPr>
                      <a:r>
                        <a:t>Nguyễn Huy Hoàng</a:t>
                      </a:r>
                    </a:p>
                  </a:txBody>
                  <a:tcPr anchor="ctr" marL="164592" marR="164592">
                    <a:solidFill>
                      <a:srgbClr val="FFFFFF"/>
                    </a:solidFill>
                  </a:tcPr>
                </a:tc>
              </a:tr>
            </a:tbl>
          </a:graphicData>
        </a:graphic>
      </p:graphicFrame>
      <p:sp>
        <p:nvSpPr>
          <p:cNvPr id="8" name="TextBox 7"/>
          <p:cNvSpPr txBox="1"/>
          <p:nvPr/>
        </p:nvSpPr>
        <p:spPr>
          <a:xfrm>
            <a:off x="7498079" y="4892040"/>
            <a:ext cx="3840480" cy="1097280"/>
          </a:xfrm>
          <a:prstGeom prst="rect">
            <a:avLst/>
          </a:prstGeom>
          <a:noFill/>
        </p:spPr>
        <p:txBody>
          <a:bodyPr wrap="square">
            <a:spAutoFit/>
          </a:bodyPr>
          <a:lstStyle/>
          <a:p>
            <a:pPr>
              <a:defRPr sz="1100" b="1">
                <a:solidFill>
                  <a:srgbClr val="1C64BA"/>
                </a:solidFill>
                <a:latin typeface="Segoe UI"/>
              </a:defRPr>
            </a:pPr>
            <a:r>
              <a:t>ĐƠN VỊ ĐÀO TẠO &amp; HỌC KỲ</a:t>
            </a:r>
          </a:p>
          <a:p>
            <a:pPr>
              <a:defRPr sz="1200">
                <a:solidFill>
                  <a:srgbClr val="475569"/>
                </a:solidFill>
                <a:latin typeface="Segoe UI"/>
              </a:defRPr>
            </a:pPr>
            <a:r>
              <a:t>Bộ môn Hệ thống Thông tin</a:t>
            </a:r>
            <a:br/>
            <a:r>
              <a:t>Khoa Công nghệ Thông tin</a:t>
            </a:r>
            <a:br/>
            <a:r>
              <a:t>Hà Nội, tháng 10 năm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02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KẾ THỪA &amp; ĐỊNH HƯỚNG</a:t>
            </a:r>
          </a:p>
          <a:p>
            <a:pPr>
              <a:defRPr sz="2500" b="1">
                <a:solidFill>
                  <a:srgbClr val="103672"/>
                </a:solidFill>
                <a:latin typeface="Segoe UI"/>
              </a:defRPr>
            </a:pPr>
            <a:r>
              <a:t>Kế thừa Kiến trúc Buổi 7 &amp; Nhu cầu Cổng vào NGINX</a:t>
            </a:r>
          </a:p>
        </p:txBody>
      </p:sp>
      <p:sp>
        <p:nvSpPr>
          <p:cNvPr id="10" name="Rounded Rectangle 9"/>
          <p:cNvSpPr/>
          <p:nvPr/>
        </p:nvSpPr>
        <p:spPr>
          <a:xfrm>
            <a:off x="731520" y="2057400"/>
            <a:ext cx="512064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Tham chiếu Kiến trúc Buổi 7 (Nhóm 6)</a:t>
            </a:r>
          </a:p>
        </p:txBody>
      </p:sp>
      <p:sp>
        <p:nvSpPr>
          <p:cNvPr id="12" name="TextBox 11"/>
          <p:cNvSpPr txBox="1"/>
          <p:nvPr/>
        </p:nvSpPr>
        <p:spPr>
          <a:xfrm>
            <a:off x="960120" y="2606040"/>
            <a:ext cx="4663440" cy="3383280"/>
          </a:xfrm>
          <a:prstGeom prst="rect">
            <a:avLst/>
          </a:prstGeom>
          <a:noFill/>
        </p:spPr>
        <p:txBody>
          <a:bodyPr wrap="square">
            <a:spAutoFit/>
          </a:bodyPr>
          <a:lstStyle/>
          <a:p>
            <a:pPr>
              <a:spcAft>
                <a:spcPts val="1200"/>
              </a:spcAft>
            </a:pPr>
            <a:r>
              <a:rPr b="1" sz="1500">
                <a:solidFill>
                  <a:srgbClr val="103672"/>
                </a:solidFill>
              </a:rPr>
              <a:t>• Mô hình tham chiếu Buổi 7: </a:t>
            </a:r>
            <a:r>
              <a:rPr sz="1450">
                <a:solidFill>
                  <a:srgbClr val="0F172A"/>
                </a:solidFill>
              </a:rPr>
              <a:t>Slide Nhóm 6 đã giới thiệu Docker Compose, 2 backend Node.js cổng 3000 và NGINX cổng 8080 ở mức sơ đồ kiến trúc.</a:t>
            </a:r>
          </a:p>
          <a:p>
            <a:pPr>
              <a:spcAft>
                <a:spcPts val="1200"/>
              </a:spcAft>
            </a:pPr>
            <a:r>
              <a:rPr b="1" sz="1500">
                <a:solidFill>
                  <a:srgbClr val="103672"/>
                </a:solidFill>
              </a:rPr>
              <a:t>• Bản chất tài liệu tham chiếu: </a:t>
            </a:r>
            <a:r>
              <a:rPr sz="1450">
                <a:solidFill>
                  <a:srgbClr val="0F172A"/>
                </a:solidFill>
              </a:rPr>
              <a:t>Slide Nhóm 6 là tài liệu tham chiếu kiến trúc, không phải bằng chứng Nhóm 8 đang sở hữu một ứng dụng chạy sẵn từ trước.</a:t>
            </a:r>
          </a:p>
          <a:p>
            <a:pPr>
              <a:spcAft>
                <a:spcPts val="1200"/>
              </a:spcAft>
            </a:pPr>
            <a:r>
              <a:rPr b="1" sz="1500">
                <a:solidFill>
                  <a:srgbClr val="103672"/>
                </a:solidFill>
              </a:rPr>
              <a:t>• Vấn đề cần giải quyết: </a:t>
            </a:r>
            <a:r>
              <a:rPr sz="1450">
                <a:solidFill>
                  <a:srgbClr val="0F172A"/>
                </a:solidFill>
              </a:rPr>
              <a:t>Các backend chạy độc lập, chưa có cấu hình định tuyến chi tiết, chưa có kiểm chứng thực tế bằng cấu hình NGINX và đo kiểm trực tiếp.</a:t>
            </a:r>
          </a:p>
        </p:txBody>
      </p:sp>
      <p:sp>
        <p:nvSpPr>
          <p:cNvPr id="13" name="Rounded Rectangle 12"/>
          <p:cNvSpPr/>
          <p:nvPr/>
        </p:nvSpPr>
        <p:spPr>
          <a:xfrm>
            <a:off x="6217920" y="2057400"/>
            <a:ext cx="5242255"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Mục tiêu Trọng tâm của Buổi 8</a:t>
            </a:r>
          </a:p>
        </p:txBody>
      </p:sp>
      <p:sp>
        <p:nvSpPr>
          <p:cNvPr id="15" name="TextBox 14"/>
          <p:cNvSpPr txBox="1"/>
          <p:nvPr/>
        </p:nvSpPr>
        <p:spPr>
          <a:xfrm>
            <a:off x="6446520" y="2606040"/>
            <a:ext cx="4754880" cy="3383280"/>
          </a:xfrm>
          <a:prstGeom prst="rect">
            <a:avLst/>
          </a:prstGeom>
          <a:noFill/>
        </p:spPr>
        <p:txBody>
          <a:bodyPr wrap="square">
            <a:spAutoFit/>
          </a:bodyPr>
          <a:lstStyle/>
          <a:p>
            <a:pPr>
              <a:spcAft>
                <a:spcPts val="1200"/>
              </a:spcAft>
            </a:pPr>
            <a:r>
              <a:rPr b="1" sz="1500">
                <a:solidFill>
                  <a:srgbClr val="16A34A"/>
                </a:solidFill>
              </a:rPr>
              <a:t>✔ HUCE Learning Store (Sách &amp; Khóa học): </a:t>
            </a:r>
            <a:r>
              <a:rPr sz="1450">
                <a:solidFill>
                  <a:srgbClr val="0F172A"/>
                </a:solidFill>
              </a:rPr>
              <a:t>Xây dựng dự án chạy thật: Frontend tĩnh (SPA), 2 backend Node.js (api1 &amp; api2 cổng 3000), CSDL PostgreSQL (db:5432) lưu sách, khóa học và đơn hàng thật, shared volume uploads và NGINX Gateway (8080:80, 8443:443).</a:t>
            </a:r>
          </a:p>
          <a:p>
            <a:pPr>
              <a:spcAft>
                <a:spcPts val="1200"/>
              </a:spcAft>
            </a:pPr>
            <a:r>
              <a:rPr b="1" sz="1500">
                <a:solidFill>
                  <a:srgbClr val="16A34A"/>
                </a:solidFill>
              </a:rPr>
              <a:t>✔ Cổng vào Tập trung (Single Entry): </a:t>
            </a:r>
            <a:r>
              <a:rPr sz="1450">
                <a:solidFill>
                  <a:srgbClr val="0F172A"/>
                </a:solidFill>
              </a:rPr>
              <a:t>Định tuyến đường dẫn '/' về frontend tĩnh và '/api/' về backend, loại bỏ rào cản CORS nội bộ qua Same-Origin.</a:t>
            </a:r>
          </a:p>
          <a:p>
            <a:pPr>
              <a:spcAft>
                <a:spcPts val="1200"/>
              </a:spcAft>
            </a:pPr>
            <a:r>
              <a:rPr b="1" sz="1500">
                <a:solidFill>
                  <a:srgbClr val="16A34A"/>
                </a:solidFill>
              </a:rPr>
              <a:t>✔ Cân bằng tải &amp; Kiểm chứng Thực hành: </a:t>
            </a:r>
            <a:r>
              <a:rPr sz="1450">
                <a:solidFill>
                  <a:srgbClr val="0F172A"/>
                </a:solidFill>
              </a:rPr>
              <a:t>Cấu hình Upstream chia tải luân phiên, bảo vệ dung lượng body (413), nạp nóng cấu hình và thiết lập HTTPS tự ký có SAN.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03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TỔNG QUAN CÔNG NGHỆ</a:t>
            </a:r>
          </a:p>
          <a:p>
            <a:pPr>
              <a:defRPr sz="2500" b="1">
                <a:solidFill>
                  <a:srgbClr val="103672"/>
                </a:solidFill>
                <a:latin typeface="Segoe UI"/>
              </a:defRPr>
            </a:pPr>
            <a:r>
              <a:t>Bản chất NGINX &amp; Kiến trúc Hướng Sự kiện (Event-Driven)</a:t>
            </a:r>
          </a:p>
        </p:txBody>
      </p:sp>
      <p:sp>
        <p:nvSpPr>
          <p:cNvPr id="10" name="Rounded Rectangle 9"/>
          <p:cNvSpPr/>
          <p:nvPr/>
        </p:nvSpPr>
        <p:spPr>
          <a:xfrm>
            <a:off x="731520" y="2057400"/>
            <a:ext cx="512064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NGINX là gì?</a:t>
            </a:r>
          </a:p>
        </p:txBody>
      </p:sp>
      <p:sp>
        <p:nvSpPr>
          <p:cNvPr id="12" name="TextBox 11"/>
          <p:cNvSpPr txBox="1"/>
          <p:nvPr/>
        </p:nvSpPr>
        <p:spPr>
          <a:xfrm>
            <a:off x="960120" y="2606040"/>
            <a:ext cx="4663440" cy="3383280"/>
          </a:xfrm>
          <a:prstGeom prst="rect">
            <a:avLst/>
          </a:prstGeom>
          <a:noFill/>
        </p:spPr>
        <p:txBody>
          <a:bodyPr wrap="square">
            <a:spAutoFit/>
          </a:bodyPr>
          <a:lstStyle/>
          <a:p>
            <a:pPr>
              <a:spcAft>
                <a:spcPts val="1200"/>
              </a:spcAft>
            </a:pPr>
            <a:r>
              <a:rPr b="1" sz="1500">
                <a:solidFill>
                  <a:srgbClr val="103672"/>
                </a:solidFill>
              </a:rPr>
              <a:t>• Định nghĩa: </a:t>
            </a:r>
            <a:r>
              <a:rPr sz="1450">
                <a:solidFill>
                  <a:srgbClr val="0F172A"/>
                </a:solidFill>
              </a:rPr>
              <a:t>NGINX là phần mềm mã nguồn mở hiệu năng cao, đóng vai trò Web Server, Reverse Proxy, API Gateway và Cân bằng tải (Load Balancer).</a:t>
            </a:r>
          </a:p>
          <a:p>
            <a:pPr>
              <a:spcAft>
                <a:spcPts val="1200"/>
              </a:spcAft>
            </a:pPr>
            <a:r>
              <a:rPr b="1" sz="1500">
                <a:solidFill>
                  <a:srgbClr val="103672"/>
                </a:solidFill>
              </a:rPr>
              <a:t>• Lịch sử phát triển: </a:t>
            </a:r>
            <a:r>
              <a:rPr sz="1450">
                <a:solidFill>
                  <a:srgbClr val="0F172A"/>
                </a:solidFill>
              </a:rPr>
              <a:t>Do Igor Sysoev phát hành lần đầu năm 2004 nhằm giải quyết bài toán C10K (phục vụ đồng thời 10.000 kết nối đồng thời trên một máy chủ).</a:t>
            </a:r>
          </a:p>
          <a:p>
            <a:pPr>
              <a:spcAft>
                <a:spcPts val="1200"/>
              </a:spcAft>
            </a:pPr>
            <a:r>
              <a:rPr b="1" sz="1500">
                <a:solidFill>
                  <a:srgbClr val="103672"/>
                </a:solidFill>
              </a:rPr>
              <a:t>• Vị thế hiện nay: </a:t>
            </a:r>
            <a:r>
              <a:rPr sz="1450">
                <a:solidFill>
                  <a:srgbClr val="0F172A"/>
                </a:solidFill>
              </a:rPr>
              <a:t>Chiếm thị phần hàng đầu thế giới cho các hệ thống web quy mô lớn nhờ tốc độ vượt trội và mức tiêu hao tài nguyên cực thấp.</a:t>
            </a:r>
          </a:p>
        </p:txBody>
      </p:sp>
      <p:sp>
        <p:nvSpPr>
          <p:cNvPr id="13" name="Rounded Rectangle 12"/>
          <p:cNvSpPr/>
          <p:nvPr/>
        </p:nvSpPr>
        <p:spPr>
          <a:xfrm>
            <a:off x="6217920" y="2057400"/>
            <a:ext cx="5242255"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Cơ chế Xử lý: Event-Driven vs Thread-based</a:t>
            </a:r>
          </a:p>
        </p:txBody>
      </p:sp>
      <p:sp>
        <p:nvSpPr>
          <p:cNvPr id="15" name="TextBox 14"/>
          <p:cNvSpPr txBox="1"/>
          <p:nvPr/>
        </p:nvSpPr>
        <p:spPr>
          <a:xfrm>
            <a:off x="6446520" y="2606040"/>
            <a:ext cx="4754880" cy="3383280"/>
          </a:xfrm>
          <a:prstGeom prst="rect">
            <a:avLst/>
          </a:prstGeom>
          <a:noFill/>
        </p:spPr>
        <p:txBody>
          <a:bodyPr wrap="square">
            <a:spAutoFit/>
          </a:bodyPr>
          <a:lstStyle/>
          <a:p>
            <a:pPr>
              <a:spcAft>
                <a:spcPts val="1200"/>
              </a:spcAft>
            </a:pPr>
            <a:r>
              <a:rPr b="1" sz="1500">
                <a:solidFill>
                  <a:srgbClr val="1C64BA"/>
                </a:solidFill>
              </a:rPr>
              <a:t>✔ Mô hình Đa luồng truyền thống: </a:t>
            </a:r>
            <a:r>
              <a:rPr sz="1450">
                <a:solidFill>
                  <a:srgbClr val="0F172A"/>
                </a:solidFill>
              </a:rPr>
              <a:t>Mỗi kết nối client tạo ra một thread/process riêng. Khi có hàng nghìn client, máy chủ cạn kiệt bộ nhớ do chi phí Context Switching.</a:t>
            </a:r>
          </a:p>
          <a:p>
            <a:pPr>
              <a:spcAft>
                <a:spcPts val="1200"/>
              </a:spcAft>
            </a:pPr>
            <a:r>
              <a:rPr b="1" sz="1500">
                <a:solidFill>
                  <a:srgbClr val="1C64BA"/>
                </a:solidFill>
              </a:rPr>
              <a:t>✔ Kiến trúc Bất đồng bộ của NGINX: </a:t>
            </a:r>
            <a:r>
              <a:rPr sz="1450">
                <a:solidFill>
                  <a:srgbClr val="0F172A"/>
                </a:solidFill>
              </a:rPr>
              <a:t>Sử dụng mô hình Event-driven Non-blocking I/O. Một Master Process quản lý các Worker Process (thường khớp số nhân CPU).</a:t>
            </a:r>
          </a:p>
          <a:p>
            <a:pPr>
              <a:spcAft>
                <a:spcPts val="1200"/>
              </a:spcAft>
            </a:pPr>
            <a:r>
              <a:rPr b="1" sz="1500">
                <a:solidFill>
                  <a:srgbClr val="1C64BA"/>
                </a:solidFill>
              </a:rPr>
              <a:t>✔ Khả năng phục vụ bền bỉ: </a:t>
            </a:r>
            <a:r>
              <a:rPr sz="1450">
                <a:solidFill>
                  <a:srgbClr val="0F172A"/>
                </a:solidFill>
              </a:rPr>
              <a:t>Mỗi Worker Process có thể xử lý hàng chục nghìn kết nối song song trong một Event Loop duy nhất mà không bị khóa luồng (blocking).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04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KIẾN TRÚC HỆ THỐNG</a:t>
            </a:r>
          </a:p>
          <a:p>
            <a:pPr>
              <a:defRPr sz="2500" b="1">
                <a:solidFill>
                  <a:srgbClr val="103672"/>
                </a:solidFill>
                <a:latin typeface="Segoe UI"/>
              </a:defRPr>
            </a:pPr>
            <a:r>
              <a:t>Phân định 3 Vai trò: Web Server, Reverse Proxy &amp; Load Balancer</a:t>
            </a:r>
          </a:p>
        </p:txBody>
      </p:sp>
      <p:sp>
        <p:nvSpPr>
          <p:cNvPr id="10" name="Rounded Rectangle 9"/>
          <p:cNvSpPr/>
          <p:nvPr/>
        </p:nvSpPr>
        <p:spPr>
          <a:xfrm>
            <a:off x="731520" y="2057400"/>
            <a:ext cx="3332073"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2874873" cy="365760"/>
          </a:xfrm>
          <a:prstGeom prst="rect">
            <a:avLst/>
          </a:prstGeom>
          <a:noFill/>
        </p:spPr>
        <p:txBody>
          <a:bodyPr wrap="none" lIns="0" tIns="0" rIns="0" bIns="0">
            <a:spAutoFit/>
          </a:bodyPr>
          <a:lstStyle/>
          <a:p>
            <a:pPr>
              <a:defRPr sz="1600" b="1">
                <a:solidFill>
                  <a:srgbClr val="103672"/>
                </a:solidFill>
                <a:latin typeface="Segoe UI"/>
              </a:defRPr>
            </a:pPr>
            <a:r>
              <a:t>1. Web Server Tĩnh</a:t>
            </a:r>
          </a:p>
        </p:txBody>
      </p:sp>
      <p:sp>
        <p:nvSpPr>
          <p:cNvPr id="12" name="TextBox 11"/>
          <p:cNvSpPr txBox="1"/>
          <p:nvPr/>
        </p:nvSpPr>
        <p:spPr>
          <a:xfrm>
            <a:off x="868680" y="2606040"/>
            <a:ext cx="3057753" cy="3383280"/>
          </a:xfrm>
          <a:prstGeom prst="rect">
            <a:avLst/>
          </a:prstGeom>
          <a:noFill/>
        </p:spPr>
        <p:txBody>
          <a:bodyPr wrap="square">
            <a:spAutoFit/>
          </a:bodyPr>
          <a:lstStyle/>
          <a:p/>
          <a:p>
            <a:pPr>
              <a:spcAft>
                <a:spcPts val="1000"/>
              </a:spcAft>
            </a:pPr>
            <a:r>
              <a:rPr b="1" sz="1450">
                <a:solidFill>
                  <a:srgbClr val="103672"/>
                </a:solidFill>
              </a:rPr>
              <a:t>• Nhiệm vụ cốt lõi:
</a:t>
            </a:r>
            <a:r>
              <a:rPr sz="1350">
                <a:solidFill>
                  <a:srgbClr val="0F172A"/>
                </a:solidFill>
              </a:rPr>
              <a:t>  Đọc trực tiếp các tệp tĩnh (HTML, CSS, JS, ảnh) từ đĩa vật lý để trả lời request của client.</a:t>
            </a:r>
          </a:p>
          <a:p>
            <a:pPr>
              <a:spcAft>
                <a:spcPts val="1000"/>
              </a:spcAft>
            </a:pPr>
            <a:r>
              <a:rPr b="1" sz="1450">
                <a:solidFill>
                  <a:srgbClr val="103672"/>
                </a:solidFill>
              </a:rPr>
              <a:t>• Chỉ thị NGINX:
</a:t>
            </a:r>
            <a:r>
              <a:rPr sz="1350">
                <a:solidFill>
                  <a:srgbClr val="0F172A"/>
                </a:solidFill>
              </a:rPr>
              <a:t>  Sử dụng 'root' và 'index' kết hợp zero-copy (sendfile) để tối ưu hóa I/O.</a:t>
            </a:r>
          </a:p>
          <a:p>
            <a:pPr>
              <a:spcAft>
                <a:spcPts val="1000"/>
              </a:spcAft>
            </a:pPr>
            <a:r>
              <a:rPr b="1" sz="1450">
                <a:solidFill>
                  <a:srgbClr val="103672"/>
                </a:solidFill>
              </a:rPr>
              <a:t>• Trong bài lab:
</a:t>
            </a:r>
            <a:r>
              <a:rPr sz="1350">
                <a:solidFill>
                  <a:srgbClr val="0F172A"/>
                </a:solidFill>
              </a:rPr>
              <a:t>  NGINX phục vụ trực tiếp bộ mã build frontend tại thư mục '/usr/share/nginx/html'.</a:t>
            </a:r>
          </a:p>
        </p:txBody>
      </p:sp>
      <p:sp>
        <p:nvSpPr>
          <p:cNvPr id="13" name="Rounded Rectangle 12"/>
          <p:cNvSpPr/>
          <p:nvPr/>
        </p:nvSpPr>
        <p:spPr>
          <a:xfrm>
            <a:off x="4429353" y="2057400"/>
            <a:ext cx="3332073"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7953" y="2221992"/>
            <a:ext cx="2874873" cy="365760"/>
          </a:xfrm>
          <a:prstGeom prst="rect">
            <a:avLst/>
          </a:prstGeom>
          <a:noFill/>
        </p:spPr>
        <p:txBody>
          <a:bodyPr wrap="none" lIns="0" tIns="0" rIns="0" bIns="0">
            <a:spAutoFit/>
          </a:bodyPr>
          <a:lstStyle/>
          <a:p>
            <a:pPr>
              <a:defRPr sz="1600" b="1">
                <a:solidFill>
                  <a:srgbClr val="103672"/>
                </a:solidFill>
                <a:latin typeface="Segoe UI"/>
              </a:defRPr>
            </a:pPr>
            <a:r>
              <a:t>2. Reverse Proxy</a:t>
            </a:r>
          </a:p>
        </p:txBody>
      </p:sp>
      <p:sp>
        <p:nvSpPr>
          <p:cNvPr id="15" name="TextBox 14"/>
          <p:cNvSpPr txBox="1"/>
          <p:nvPr/>
        </p:nvSpPr>
        <p:spPr>
          <a:xfrm>
            <a:off x="4566513" y="2606040"/>
            <a:ext cx="3057753" cy="3383280"/>
          </a:xfrm>
          <a:prstGeom prst="rect">
            <a:avLst/>
          </a:prstGeom>
          <a:noFill/>
        </p:spPr>
        <p:txBody>
          <a:bodyPr wrap="square">
            <a:spAutoFit/>
          </a:bodyPr>
          <a:lstStyle/>
          <a:p/>
          <a:p>
            <a:pPr>
              <a:spcAft>
                <a:spcPts val="1000"/>
              </a:spcAft>
            </a:pPr>
            <a:r>
              <a:rPr b="1" sz="1450">
                <a:solidFill>
                  <a:srgbClr val="1C64BA"/>
                </a:solidFill>
              </a:rPr>
              <a:t>• Nhiệm vụ cốt lõi:
</a:t>
            </a:r>
            <a:r>
              <a:rPr sz="1350">
                <a:solidFill>
                  <a:srgbClr val="0F172A"/>
                </a:solidFill>
              </a:rPr>
              <a:t>  Đứng trước backend, tiếp nhận request của client và chuyển tiếp (forward) vào dịch vụ ứng dụng nội bộ.</a:t>
            </a:r>
          </a:p>
          <a:p>
            <a:pPr>
              <a:spcAft>
                <a:spcPts val="1000"/>
              </a:spcAft>
            </a:pPr>
            <a:r>
              <a:rPr b="1" sz="1450">
                <a:solidFill>
                  <a:srgbClr val="1C64BA"/>
                </a:solidFill>
              </a:rPr>
              <a:t>• Chỉ thị NGINX:
</a:t>
            </a:r>
            <a:r>
              <a:rPr sz="1350">
                <a:solidFill>
                  <a:srgbClr val="0F172A"/>
                </a:solidFill>
              </a:rPr>
              <a:t>  Sử dụng 'location /api/ { proxy_pass ...; }' kèm các header bảo toàn.</a:t>
            </a:r>
          </a:p>
          <a:p>
            <a:pPr>
              <a:spcAft>
                <a:spcPts val="1000"/>
              </a:spcAft>
            </a:pPr>
            <a:r>
              <a:rPr b="1" sz="1450">
                <a:solidFill>
                  <a:srgbClr val="1C64BA"/>
                </a:solidFill>
              </a:rPr>
              <a:t>• Lợi ích kỹ thuật:
</a:t>
            </a:r>
            <a:r>
              <a:rPr sz="1350">
                <a:solidFill>
                  <a:srgbClr val="0F172A"/>
                </a:solidFill>
              </a:rPr>
              <a:t>  Che giấu địa chỉ IP nội bộ backend, gom chung Origin để loại trừ lỗi CORS cho luồng gọi API nội bộ.</a:t>
            </a:r>
          </a:p>
        </p:txBody>
      </p:sp>
      <p:sp>
        <p:nvSpPr>
          <p:cNvPr id="16" name="Rounded Rectangle 15"/>
          <p:cNvSpPr/>
          <p:nvPr/>
        </p:nvSpPr>
        <p:spPr>
          <a:xfrm>
            <a:off x="8127186" y="2057400"/>
            <a:ext cx="3332073"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5786" y="2221992"/>
            <a:ext cx="2874873" cy="365760"/>
          </a:xfrm>
          <a:prstGeom prst="rect">
            <a:avLst/>
          </a:prstGeom>
          <a:noFill/>
        </p:spPr>
        <p:txBody>
          <a:bodyPr wrap="none" lIns="0" tIns="0" rIns="0" bIns="0">
            <a:spAutoFit/>
          </a:bodyPr>
          <a:lstStyle/>
          <a:p>
            <a:pPr>
              <a:defRPr sz="1600" b="1">
                <a:solidFill>
                  <a:srgbClr val="103672"/>
                </a:solidFill>
                <a:latin typeface="Segoe UI"/>
              </a:defRPr>
            </a:pPr>
            <a:r>
              <a:t>3. Load Balancer</a:t>
            </a:r>
          </a:p>
        </p:txBody>
      </p:sp>
      <p:sp>
        <p:nvSpPr>
          <p:cNvPr id="18" name="TextBox 17"/>
          <p:cNvSpPr txBox="1"/>
          <p:nvPr/>
        </p:nvSpPr>
        <p:spPr>
          <a:xfrm>
            <a:off x="8264346" y="2606040"/>
            <a:ext cx="3057753" cy="3383280"/>
          </a:xfrm>
          <a:prstGeom prst="rect">
            <a:avLst/>
          </a:prstGeom>
          <a:noFill/>
        </p:spPr>
        <p:txBody>
          <a:bodyPr wrap="square">
            <a:spAutoFit/>
          </a:bodyPr>
          <a:lstStyle/>
          <a:p/>
          <a:p>
            <a:pPr>
              <a:spcAft>
                <a:spcPts val="1000"/>
              </a:spcAft>
            </a:pPr>
            <a:r>
              <a:rPr b="1" sz="1450">
                <a:solidFill>
                  <a:srgbClr val="0284C7"/>
                </a:solidFill>
              </a:rPr>
              <a:t>• Nhiệm vụ cốt lõi:
</a:t>
            </a:r>
            <a:r>
              <a:rPr sz="1350">
                <a:solidFill>
                  <a:srgbClr val="0F172A"/>
                </a:solidFill>
              </a:rPr>
              <a:t>  Phân phối lưu lượng truy cập đồng đều tới nhiều instance backend đang chạy song song.</a:t>
            </a:r>
          </a:p>
          <a:p>
            <a:pPr>
              <a:spcAft>
                <a:spcPts val="1000"/>
              </a:spcAft>
            </a:pPr>
            <a:r>
              <a:rPr b="1" sz="1450">
                <a:solidFill>
                  <a:srgbClr val="0284C7"/>
                </a:solidFill>
              </a:rPr>
              <a:t>• Chỉ thị NGINX:
</a:t>
            </a:r>
            <a:r>
              <a:rPr sz="1350">
                <a:solidFill>
                  <a:srgbClr val="0F172A"/>
                </a:solidFill>
              </a:rPr>
              <a:t>  Sử dụng khối 'upstream' với thuật toán Round-Robin mặc định, hoặc least_conn, ip_hash.</a:t>
            </a:r>
          </a:p>
          <a:p>
            <a:pPr>
              <a:spcAft>
                <a:spcPts val="1000"/>
              </a:spcAft>
            </a:pPr>
            <a:r>
              <a:rPr b="1" sz="1450">
                <a:solidFill>
                  <a:srgbClr val="0284C7"/>
                </a:solidFill>
              </a:rPr>
              <a:t>• Lợi ích kỹ thuật:
</a:t>
            </a:r>
            <a:r>
              <a:rPr sz="1350">
                <a:solidFill>
                  <a:srgbClr val="0F172A"/>
                </a:solidFill>
              </a:rPr>
              <a:t>  Tăng năng lực xử lý chịu tải, tránh quá tải một node và hỗ trợ tự động loại trừ node lỗi.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05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NỀN TẢNG MẠNG WEB</a:t>
            </a:r>
          </a:p>
          <a:p>
            <a:pPr>
              <a:defRPr sz="2500" b="1">
                <a:solidFill>
                  <a:srgbClr val="103672"/>
                </a:solidFill>
                <a:latin typeface="Segoe UI"/>
              </a:defRPr>
            </a:pPr>
            <a:r>
              <a:t>Nền tảng Mạng: IP, Tên miền ảo, Cổng &amp; HTTP / HTTPS</a:t>
            </a:r>
          </a:p>
        </p:txBody>
      </p:sp>
      <p:sp>
        <p:nvSpPr>
          <p:cNvPr id="10" name="Rounded Rectangle 9"/>
          <p:cNvSpPr/>
          <p:nvPr/>
        </p:nvSpPr>
        <p:spPr>
          <a:xfrm>
            <a:off x="731520" y="2057400"/>
            <a:ext cx="512064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Phân giải Tên miền &amp; Ánh xạ Cổng Host</a:t>
            </a:r>
          </a:p>
        </p:txBody>
      </p:sp>
      <p:sp>
        <p:nvSpPr>
          <p:cNvPr id="12" name="TextBox 11"/>
          <p:cNvSpPr txBox="1"/>
          <p:nvPr/>
        </p:nvSpPr>
        <p:spPr>
          <a:xfrm>
            <a:off x="960120" y="2606040"/>
            <a:ext cx="4663440" cy="3383280"/>
          </a:xfrm>
          <a:prstGeom prst="rect">
            <a:avLst/>
          </a:prstGeom>
          <a:noFill/>
        </p:spPr>
        <p:txBody>
          <a:bodyPr wrap="square">
            <a:spAutoFit/>
          </a:bodyPr>
          <a:lstStyle/>
          <a:p/>
          <a:p>
            <a:pPr>
              <a:spcAft>
                <a:spcPts val="700"/>
              </a:spcAft>
            </a:pPr>
            <a:r>
              <a:rPr b="1" sz="1450">
                <a:solidFill>
                  <a:srgbClr val="103672"/>
                </a:solidFill>
              </a:rPr>
              <a:t>• Địa chỉ IP &amp; Tên miền:
</a:t>
            </a:r>
            <a:r>
              <a:rPr sz="1350">
                <a:solidFill>
                  <a:srgbClr val="0F172A"/>
                </a:solidFill>
              </a:rPr>
              <a:t>  Máy tính định tuyến gói tin qua IP (Layer 3), nhưng người dùng nhận diện qua Domain (ví dụ: 'myapp.local').</a:t>
            </a:r>
          </a:p>
          <a:p>
            <a:pPr>
              <a:spcAft>
                <a:spcPts val="700"/>
              </a:spcAft>
            </a:pPr>
            <a:r>
              <a:rPr b="1" sz="1450">
                <a:solidFill>
                  <a:srgbClr val="103672"/>
                </a:solidFill>
              </a:rPr>
              <a:t>• Tệp hosts phân giải cục bộ:
</a:t>
            </a:r>
            <a:r>
              <a:rPr sz="1350">
                <a:solidFill>
                  <a:srgbClr val="0F172A"/>
                </a:solidFill>
              </a:rPr>
              <a:t>  Tệp hosts ('/etc/hosts' hoặc 'C:\Windows\...\hosts') được ưu tiên tra cứu trước DNS Server, ánh xạ '127.0.0.1 myapp.local'.</a:t>
            </a:r>
          </a:p>
          <a:p>
            <a:pPr>
              <a:spcAft>
                <a:spcPts val="700"/>
              </a:spcAft>
            </a:pPr>
            <a:r>
              <a:rPr b="1" sz="1450">
                <a:solidFill>
                  <a:srgbClr val="103672"/>
                </a:solidFill>
              </a:rPr>
              <a:t>• Ánh xạ Cổng Docker (Port Mapping):
</a:t>
            </a:r>
            <a:r>
              <a:rPr sz="1350">
                <a:solidFill>
                  <a:srgbClr val="0F172A"/>
                </a:solidFill>
              </a:rPr>
              <a:t>  Host ánh xạ cổng 8080 -&gt; 80 (HTTP) và cổng 8443 -&gt; 443 (HTTPS) của NGINX container. Backend chạy nội bộ tại cổng 3000.</a:t>
            </a:r>
          </a:p>
        </p:txBody>
      </p:sp>
      <p:sp>
        <p:nvSpPr>
          <p:cNvPr id="13" name="Rounded Rectangle 12"/>
          <p:cNvSpPr/>
          <p:nvPr/>
        </p:nvSpPr>
        <p:spPr>
          <a:xfrm>
            <a:off x="6217920" y="2057400"/>
            <a:ext cx="5242255"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So sánh Giao thức HTTP (80) &amp; HTTPS (443)</a:t>
            </a:r>
          </a:p>
        </p:txBody>
      </p:sp>
      <p:sp>
        <p:nvSpPr>
          <p:cNvPr id="15" name="TextBox 14"/>
          <p:cNvSpPr txBox="1"/>
          <p:nvPr/>
        </p:nvSpPr>
        <p:spPr>
          <a:xfrm>
            <a:off x="6446520" y="2606040"/>
            <a:ext cx="4754880" cy="3383280"/>
          </a:xfrm>
          <a:prstGeom prst="rect">
            <a:avLst/>
          </a:prstGeom>
          <a:noFill/>
        </p:spPr>
        <p:txBody>
          <a:bodyPr wrap="square">
            <a:spAutoFit/>
          </a:bodyPr>
          <a:lstStyle/>
          <a:p/>
          <a:p>
            <a:pPr>
              <a:spcAft>
                <a:spcPts val="700"/>
              </a:spcAft>
            </a:pPr>
            <a:r>
              <a:rPr b="1" sz="1450">
                <a:solidFill>
                  <a:srgbClr val="1C64BA"/>
                </a:solidFill>
              </a:rPr>
              <a:t>✔ Giao thức HTTP (Cổng 80):
</a:t>
            </a:r>
            <a:r>
              <a:rPr sz="1350">
                <a:solidFill>
                  <a:srgbClr val="0F172A"/>
                </a:solidFill>
              </a:rPr>
              <a:t>  Truyền dữ liệu dạng bản rõ (plaintext). Dễ bị tấn công nghe lén (Sniffing) và giả mạo (Man-in-the-Middle) trên đường truyền.</a:t>
            </a:r>
          </a:p>
          <a:p>
            <a:pPr>
              <a:spcAft>
                <a:spcPts val="700"/>
              </a:spcAft>
            </a:pPr>
            <a:r>
              <a:rPr b="1" sz="1450">
                <a:solidFill>
                  <a:srgbClr val="1C64BA"/>
                </a:solidFill>
              </a:rPr>
              <a:t>✔ Giao thức HTTPS (Cổng 443):
</a:t>
            </a:r>
            <a:r>
              <a:rPr sz="1350">
                <a:solidFill>
                  <a:srgbClr val="0F172A"/>
                </a:solidFill>
              </a:rPr>
              <a:t>  HTTP bọc trong lớp mã hóa bảo mật TLS/SSL. Đảm bảo 3 tiêu chí: Bảo mật (Confidentiality), Toàn vẹn (Integrity) và Xác thực danh tính (Authentication).</a:t>
            </a:r>
          </a:p>
          <a:p>
            <a:pPr>
              <a:spcAft>
                <a:spcPts val="700"/>
              </a:spcAft>
            </a:pPr>
            <a:r>
              <a:rPr b="1" sz="1450">
                <a:solidFill>
                  <a:srgbClr val="1C64BA"/>
                </a:solidFill>
              </a:rPr>
              <a:t>✔ SSL Termination tại NGINX:
</a:t>
            </a:r>
            <a:r>
              <a:rPr sz="1350">
                <a:solidFill>
                  <a:srgbClr val="0F172A"/>
                </a:solidFill>
              </a:rPr>
              <a:t>  NGINX giải mã TLS ở cổng vào 443, sau đó chuyển tiếp HTTP thông thường vào mạng nội bộ container cổng 3000 để giảm tải CPU cho backend.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06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ĐỊNH TUYẾN YÊU CẦU</a:t>
            </a:r>
          </a:p>
          <a:p>
            <a:pPr>
              <a:defRPr sz="2500" b="1">
                <a:solidFill>
                  <a:srgbClr val="103672"/>
                </a:solidFill>
                <a:latin typeface="Segoe UI"/>
              </a:defRPr>
            </a:pPr>
            <a:r>
              <a:t>Sơ đồ Luồng Yêu cầu (Request Flow) &amp; Ví dụ URL</a:t>
            </a:r>
          </a:p>
        </p:txBody>
      </p:sp>
      <p:sp>
        <p:nvSpPr>
          <p:cNvPr id="10" name="Rounded Rectangle 9"/>
          <p:cNvSpPr/>
          <p:nvPr/>
        </p:nvSpPr>
        <p:spPr>
          <a:xfrm>
            <a:off x="822960" y="2926080"/>
            <a:ext cx="2377440" cy="1645920"/>
          </a:xfrm>
          <a:prstGeom prst="roundRect">
            <a:avLst/>
          </a:prstGeom>
          <a:solidFill>
            <a:srgbClr val="103672"/>
          </a:solidFill>
          <a:ln>
            <a:solidFill>
              <a:srgbClr val="1036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200400"/>
            <a:ext cx="2377440" cy="1371600"/>
          </a:xfrm>
          <a:prstGeom prst="rect">
            <a:avLst/>
          </a:prstGeom>
          <a:noFill/>
        </p:spPr>
        <p:txBody>
          <a:bodyPr wrap="square">
            <a:spAutoFit/>
          </a:bodyPr>
          <a:lstStyle/>
          <a:p>
            <a:pPr algn="ctr">
              <a:defRPr sz="1450" b="1">
                <a:solidFill>
                  <a:srgbClr val="FFFFFF"/>
                </a:solidFill>
                <a:latin typeface="Segoe UI"/>
              </a:defRPr>
            </a:pPr>
            <a:r>
              <a:t>CLIENT / BROWSER</a:t>
            </a:r>
            <a:br/>
            <a:r>
              <a:t>http://myapp.local:8080</a:t>
            </a:r>
          </a:p>
        </p:txBody>
      </p:sp>
      <p:sp>
        <p:nvSpPr>
          <p:cNvPr id="12" name="Right Arrow 11"/>
          <p:cNvSpPr/>
          <p:nvPr/>
        </p:nvSpPr>
        <p:spPr>
          <a:xfrm>
            <a:off x="3291840" y="3520440"/>
            <a:ext cx="1097280" cy="411480"/>
          </a:xfrm>
          <a:prstGeom prst="rightArrow">
            <a:avLst/>
          </a:prstGeom>
          <a:solidFill>
            <a:srgbClr val="1C64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80560" y="2286000"/>
            <a:ext cx="2926080" cy="2926080"/>
          </a:xfrm>
          <a:prstGeom prst="roundRect">
            <a:avLst/>
          </a:prstGeom>
          <a:solidFill>
            <a:srgbClr val="EEF2FF"/>
          </a:solidFill>
          <a:ln w="25400">
            <a:solidFill>
              <a:srgbClr val="1C64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2560320"/>
            <a:ext cx="2560320" cy="2377440"/>
          </a:xfrm>
          <a:prstGeom prst="rect">
            <a:avLst/>
          </a:prstGeom>
          <a:noFill/>
        </p:spPr>
        <p:txBody>
          <a:bodyPr wrap="square">
            <a:spAutoFit/>
          </a:bodyPr>
          <a:lstStyle/>
          <a:p>
            <a:pPr algn="ctr">
              <a:defRPr sz="1450" b="1">
                <a:solidFill>
                  <a:srgbClr val="103672"/>
                </a:solidFill>
                <a:latin typeface="Segoe UI"/>
              </a:defRPr>
            </a:pPr>
            <a:r>
              <a:t>NGINX GATEWAY</a:t>
            </a:r>
            <a:br/>
            <a:r>
              <a:t>(Cổng 8080:80 &amp; 8443:443)</a:t>
            </a:r>
            <a:br/>
            <a:br/>
            <a:r>
              <a:t>Phân tích Request URL:</a:t>
            </a:r>
          </a:p>
          <a:p>
            <a:pPr>
              <a:defRPr sz="1350">
                <a:solidFill>
                  <a:srgbClr val="1C64BA"/>
                </a:solidFill>
                <a:latin typeface="Consolas"/>
              </a:defRPr>
            </a:pPr>
            <a:r>
              <a:t>• Path '/' -&gt; Static root</a:t>
            </a:r>
            <a:br/>
            <a:r>
              <a:t>• Path '/api/' -&gt; Upstream</a:t>
            </a:r>
          </a:p>
        </p:txBody>
      </p:sp>
      <p:sp>
        <p:nvSpPr>
          <p:cNvPr id="15" name="Right Arrow 14"/>
          <p:cNvSpPr/>
          <p:nvPr/>
        </p:nvSpPr>
        <p:spPr>
          <a:xfrm>
            <a:off x="7498079" y="2606040"/>
            <a:ext cx="1005840" cy="320040"/>
          </a:xfrm>
          <a:prstGeom prst="rightArrow">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7498079" y="4434840"/>
            <a:ext cx="1005840" cy="320040"/>
          </a:xfrm>
          <a:prstGeom prst="rightArrow">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595360" y="2103120"/>
            <a:ext cx="2834640" cy="137160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32520" y="2286000"/>
            <a:ext cx="2560320" cy="1005840"/>
          </a:xfrm>
          <a:prstGeom prst="rect">
            <a:avLst/>
          </a:prstGeom>
          <a:noFill/>
        </p:spPr>
        <p:txBody>
          <a:bodyPr wrap="square">
            <a:spAutoFit/>
          </a:bodyPr>
          <a:lstStyle/>
          <a:p>
            <a:pPr algn="ctr">
              <a:defRPr sz="1300" b="1">
                <a:solidFill>
                  <a:srgbClr val="16A34A"/>
                </a:solidFill>
                <a:latin typeface="Segoe UI"/>
              </a:defRPr>
            </a:pPr>
            <a:r>
              <a:t>STATIC FRONTEND</a:t>
            </a:r>
            <a:br/>
            <a:r>
              <a:t>/usr/share/nginx/html</a:t>
            </a:r>
            <a:br/>
            <a:r>
              <a:t>(index.html, style.css, app.js)</a:t>
            </a:r>
          </a:p>
        </p:txBody>
      </p:sp>
      <p:sp>
        <p:nvSpPr>
          <p:cNvPr id="19" name="Rounded Rectangle 18"/>
          <p:cNvSpPr/>
          <p:nvPr/>
        </p:nvSpPr>
        <p:spPr>
          <a:xfrm>
            <a:off x="8595360" y="3931920"/>
            <a:ext cx="2834640" cy="1645920"/>
          </a:xfrm>
          <a:prstGeom prst="roundRect">
            <a:avLst/>
          </a:prstGeom>
          <a:solidFill>
            <a:srgbClr val="F0F9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32520" y="4114800"/>
            <a:ext cx="2560320" cy="1280160"/>
          </a:xfrm>
          <a:prstGeom prst="rect">
            <a:avLst/>
          </a:prstGeom>
          <a:noFill/>
        </p:spPr>
        <p:txBody>
          <a:bodyPr wrap="square">
            <a:spAutoFit/>
          </a:bodyPr>
          <a:lstStyle/>
          <a:p>
            <a:pPr algn="ctr">
              <a:defRPr sz="1300" b="1">
                <a:solidFill>
                  <a:srgbClr val="0284C7"/>
                </a:solidFill>
                <a:latin typeface="Segoe UI"/>
              </a:defRPr>
            </a:pPr>
            <a:r>
              <a:t>UPSTREAM CLUSTER</a:t>
            </a:r>
            <a:br/>
            <a:r>
              <a:t>api1:3000 (Node.js)</a:t>
            </a:r>
            <a:br/>
            <a:r>
              <a:t>api2:3000 (Node.js)</a:t>
            </a:r>
            <a:br/>
            <a:r>
              <a:t>(GET /api/products, POST /api/orders)</a:t>
            </a:r>
          </a:p>
        </p:txBody>
      </p:sp>
      <p:sp>
        <p:nvSpPr>
          <p:cNvPr id="21" name="Rounded Rectangle 20"/>
          <p:cNvSpPr/>
          <p:nvPr/>
        </p:nvSpPr>
        <p:spPr>
          <a:xfrm>
            <a:off x="731520" y="5440680"/>
            <a:ext cx="10728655" cy="7772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532120"/>
            <a:ext cx="10424160" cy="621792"/>
          </a:xfrm>
          <a:prstGeom prst="rect">
            <a:avLst/>
          </a:prstGeom>
          <a:noFill/>
        </p:spPr>
        <p:txBody>
          <a:bodyPr wrap="square">
            <a:spAutoFit/>
          </a:bodyPr>
          <a:lstStyle/>
          <a:p>
            <a:pPr>
              <a:defRPr sz="1350">
                <a:solidFill>
                  <a:srgbClr val="103672"/>
                </a:solidFill>
                <a:latin typeface="Segoe UI"/>
              </a:defRPr>
            </a:pPr>
            <a:r>
              <a:t>Ví dụ URL thực tế: Người dùng mở 'http://myapp.local:8080/' -&gt; NGINX trả giao diện HUCE Learning Store. JavaScript gọi ngầm 'http://myapp.local:8080/api/products' hoặc tạo đơn hàng -&gt; NGINX chuyển tiếp tới 'http://backend_cluster/api/...' tại cổng nội bộ 3000.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07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QUẢN TRỊ CẤU HÌNH</a:t>
            </a:r>
          </a:p>
          <a:p>
            <a:pPr>
              <a:defRPr sz="2500" b="1">
                <a:solidFill>
                  <a:srgbClr val="103672"/>
                </a:solidFill>
                <a:latin typeface="Segoe UI"/>
              </a:defRPr>
            </a:pPr>
            <a:r>
              <a:t>Quản trị Cấu hình: Linux Host vs Docker Container</a:t>
            </a:r>
          </a:p>
        </p:txBody>
      </p:sp>
      <p:sp>
        <p:nvSpPr>
          <p:cNvPr id="10" name="Rounded Rectangle 9"/>
          <p:cNvSpPr/>
          <p:nvPr/>
        </p:nvSpPr>
        <p:spPr>
          <a:xfrm>
            <a:off x="731520" y="2057400"/>
            <a:ext cx="512064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Môi trường Linux Host (Ubuntu / Debian)</a:t>
            </a:r>
          </a:p>
        </p:txBody>
      </p:sp>
      <p:sp>
        <p:nvSpPr>
          <p:cNvPr id="12" name="TextBox 11"/>
          <p:cNvSpPr txBox="1"/>
          <p:nvPr/>
        </p:nvSpPr>
        <p:spPr>
          <a:xfrm>
            <a:off x="960120" y="2606040"/>
            <a:ext cx="4663440" cy="3383280"/>
          </a:xfrm>
          <a:prstGeom prst="rect">
            <a:avLst/>
          </a:prstGeom>
          <a:noFill/>
        </p:spPr>
        <p:txBody>
          <a:bodyPr wrap="square">
            <a:spAutoFit/>
          </a:bodyPr>
          <a:lstStyle/>
          <a:p/>
          <a:p>
            <a:pPr>
              <a:spcAft>
                <a:spcPts val="500"/>
              </a:spcAft>
            </a:pPr>
            <a:r>
              <a:rPr b="1" sz="1400">
                <a:solidFill>
                  <a:srgbClr val="103672"/>
                </a:solidFill>
              </a:rPr>
              <a:t>• Tệp chính '/etc/nginx/nginx.conf':
</a:t>
            </a:r>
            <a:r>
              <a:rPr sz="1300">
                <a:solidFill>
                  <a:srgbClr val="0F172A"/>
                </a:solidFill>
              </a:rPr>
              <a:t>  Chứa cấu hình toàn cục (worker_processes, events, http core settings).</a:t>
            </a:r>
          </a:p>
          <a:p>
            <a:pPr>
              <a:spcAft>
                <a:spcPts val="500"/>
              </a:spcAft>
            </a:pPr>
            <a:r>
              <a:rPr b="1" sz="1400">
                <a:solidFill>
                  <a:srgbClr val="103672"/>
                </a:solidFill>
              </a:rPr>
              <a:t>• Thư mục 'sites-available/':
</a:t>
            </a:r>
            <a:r>
              <a:rPr sz="1300">
                <a:solidFill>
                  <a:srgbClr val="0F172A"/>
                </a:solidFill>
              </a:rPr>
              <a:t>  Lưu trữ toàn bộ file cấu hình của từng website (vd: default, myapp.local). Chưa được NGINX kích hoạt trực tiếp.</a:t>
            </a:r>
          </a:p>
          <a:p>
            <a:pPr>
              <a:spcAft>
                <a:spcPts val="500"/>
              </a:spcAft>
            </a:pPr>
            <a:r>
              <a:rPr b="1" sz="1400">
                <a:solidFill>
                  <a:srgbClr val="103672"/>
                </a:solidFill>
              </a:rPr>
              <a:t>• Thư mục 'sites-enabled/':
</a:t>
            </a:r>
            <a:r>
              <a:rPr sz="1300">
                <a:solidFill>
                  <a:srgbClr val="0F172A"/>
                </a:solidFill>
              </a:rPr>
              <a:t>  Chứa các liên kết mềm (symbolic link) trỏ sang 'sites-available/'. Chỉ site nào được ln -s mới được nạp vào NGINX.</a:t>
            </a:r>
          </a:p>
          <a:p>
            <a:pPr>
              <a:spcAft>
                <a:spcPts val="500"/>
              </a:spcAft>
            </a:pPr>
            <a:r>
              <a:rPr b="1" sz="1400">
                <a:solidFill>
                  <a:srgbClr val="103672"/>
                </a:solidFill>
              </a:rPr>
              <a:t>• Lệnh kích hoạt:
</a:t>
            </a:r>
            <a:r>
              <a:rPr sz="1300">
                <a:solidFill>
                  <a:srgbClr val="0F172A"/>
                </a:solidFill>
              </a:rPr>
              <a:t>  'sudo ln -s /etc/nginx/sites-available/myapp /etc/nginx/sites-enabled/'</a:t>
            </a:r>
          </a:p>
        </p:txBody>
      </p:sp>
      <p:sp>
        <p:nvSpPr>
          <p:cNvPr id="13" name="Rounded Rectangle 12"/>
          <p:cNvSpPr/>
          <p:nvPr/>
        </p:nvSpPr>
        <p:spPr>
          <a:xfrm>
            <a:off x="6217920" y="2057400"/>
            <a:ext cx="5242255"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Môi trường Container Hóa (Docker Mount)</a:t>
            </a:r>
          </a:p>
        </p:txBody>
      </p:sp>
      <p:sp>
        <p:nvSpPr>
          <p:cNvPr id="15" name="TextBox 14"/>
          <p:cNvSpPr txBox="1"/>
          <p:nvPr/>
        </p:nvSpPr>
        <p:spPr>
          <a:xfrm>
            <a:off x="6446520" y="2606040"/>
            <a:ext cx="4754880" cy="3383280"/>
          </a:xfrm>
          <a:prstGeom prst="rect">
            <a:avLst/>
          </a:prstGeom>
          <a:noFill/>
        </p:spPr>
        <p:txBody>
          <a:bodyPr wrap="square">
            <a:spAutoFit/>
          </a:bodyPr>
          <a:lstStyle/>
          <a:p/>
          <a:p>
            <a:pPr>
              <a:spcAft>
                <a:spcPts val="500"/>
              </a:spcAft>
            </a:pPr>
            <a:r>
              <a:rPr b="1" sz="1400">
                <a:solidFill>
                  <a:srgbClr val="1C64BA"/>
                </a:solidFill>
              </a:rPr>
              <a:t>✔ Cơ chế nạp tự động 'conf.d/':
</a:t>
            </a:r>
            <a:r>
              <a:rPr sz="1300">
                <a:solidFill>
                  <a:srgbClr val="0F172A"/>
                </a:solidFill>
              </a:rPr>
              <a:t>  Image chuẩn 'nginx:alpine' tự động đọc chỉ thị 'include /etc/nginx/conf.d/*.conf;' bên trong nginx.conf gốc.</a:t>
            </a:r>
          </a:p>
          <a:p>
            <a:pPr>
              <a:spcAft>
                <a:spcPts val="500"/>
              </a:spcAft>
            </a:pPr>
            <a:r>
              <a:rPr b="1" sz="1400">
                <a:solidFill>
                  <a:srgbClr val="1C64BA"/>
                </a:solidFill>
              </a:rPr>
              <a:t>✔ Không dùng sites-available:
</a:t>
            </a:r>
            <a:r>
              <a:rPr sz="1300">
                <a:solidFill>
                  <a:srgbClr val="0F172A"/>
                </a:solidFill>
              </a:rPr>
              <a:t>  Trong container tối giản, ta không cần quản lý symlink mà mount trực tiếp tệp cấu hình vào thư mục 'conf.d/'.</a:t>
            </a:r>
          </a:p>
          <a:p>
            <a:pPr>
              <a:spcAft>
                <a:spcPts val="500"/>
              </a:spcAft>
            </a:pPr>
            <a:r>
              <a:rPr b="1" sz="1400">
                <a:solidFill>
                  <a:srgbClr val="1C64BA"/>
                </a:solidFill>
              </a:rPr>
              <a:t>✔ Cú pháp Compose Volume:
</a:t>
            </a:r>
            <a:r>
              <a:rPr sz="1300">
                <a:solidFill>
                  <a:srgbClr val="0F172A"/>
                </a:solidFill>
              </a:rPr>
              <a:t>  './nginx/conf.d:/etc/nginx/conf.d:ro' (mount dạng chỉ đọc để bảo mật).</a:t>
            </a:r>
          </a:p>
          <a:p>
            <a:pPr>
              <a:spcAft>
                <a:spcPts val="500"/>
              </a:spcAft>
            </a:pPr>
            <a:r>
              <a:rPr b="1" sz="1400">
                <a:solidFill>
                  <a:srgbClr val="1C64BA"/>
                </a:solidFill>
              </a:rPr>
              <a:t>✔ Kiểm tra cú pháp &amp; Reload:
</a:t>
            </a:r>
            <a:r>
              <a:rPr sz="1300">
                <a:solidFill>
                  <a:srgbClr val="0F172A"/>
                </a:solidFill>
              </a:rPr>
              <a:t>  'docker compose exec proxy nginx -t' và 'docker compose exec proxy nginx -s reload'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08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THỰC HÀNH WEB SERVER</a:t>
            </a:r>
          </a:p>
          <a:p>
            <a:pPr>
              <a:defRPr sz="2500" b="1">
                <a:solidFill>
                  <a:srgbClr val="103672"/>
                </a:solidFill>
                <a:latin typeface="Segoe UI"/>
              </a:defRPr>
            </a:pPr>
            <a:r>
              <a:t>NGINX làm Web Server: Phục vụ File Tĩnh Frontend</a:t>
            </a:r>
          </a:p>
        </p:txBody>
      </p:sp>
      <p:sp>
        <p:nvSpPr>
          <p:cNvPr id="10" name="Rounded Rectangle 9"/>
          <p:cNvSpPr/>
          <p:nvPr/>
        </p:nvSpPr>
        <p:spPr>
          <a:xfrm>
            <a:off x="731520" y="2057400"/>
            <a:ext cx="5120640" cy="2240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057400"/>
            <a:ext cx="5120640" cy="320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12264"/>
            <a:ext cx="4754880" cy="219456"/>
          </a:xfrm>
          <a:prstGeom prst="rect">
            <a:avLst/>
          </a:prstGeom>
          <a:noFill/>
        </p:spPr>
        <p:txBody>
          <a:bodyPr wrap="none" lIns="0" tIns="0" rIns="0" bIns="0">
            <a:spAutoFit/>
          </a:bodyPr>
          <a:lstStyle/>
          <a:p>
            <a:pPr>
              <a:defRPr sz="1050" b="1">
                <a:solidFill>
                  <a:srgbClr val="94A3B8"/>
                </a:solidFill>
                <a:latin typeface="Consolas"/>
              </a:defRPr>
            </a:pPr>
            <a:r>
              <a:t>nginx/static.conf</a:t>
            </a:r>
          </a:p>
        </p:txBody>
      </p:sp>
      <p:sp>
        <p:nvSpPr>
          <p:cNvPr id="13" name="TextBox 12"/>
          <p:cNvSpPr txBox="1"/>
          <p:nvPr/>
        </p:nvSpPr>
        <p:spPr>
          <a:xfrm>
            <a:off x="960120" y="2441448"/>
            <a:ext cx="4663440" cy="1801368"/>
          </a:xfrm>
          <a:prstGeom prst="rect">
            <a:avLst/>
          </a:prstGeom>
          <a:noFill/>
        </p:spPr>
        <p:txBody>
          <a:bodyPr wrap="square" lIns="0" tIns="0" rIns="0" bIns="0">
            <a:spAutoFit/>
          </a:bodyPr>
          <a:lstStyle/>
          <a:p>
            <a:pPr>
              <a:spcAft>
                <a:spcPts val="50"/>
              </a:spcAft>
              <a:defRPr sz="1150" b="1">
                <a:solidFill>
                  <a:srgbClr val="38BDF8"/>
                </a:solidFill>
                <a:latin typeface="Consolas"/>
              </a:defRPr>
            </a:pPr>
            <a:r>
              <a:t>server {</a:t>
            </a:r>
          </a:p>
          <a:p>
            <a:pPr>
              <a:spcAft>
                <a:spcPts val="50"/>
              </a:spcAft>
              <a:defRPr sz="1150" b="1">
                <a:solidFill>
                  <a:srgbClr val="38BDF8"/>
                </a:solidFill>
                <a:latin typeface="Consolas"/>
              </a:defRPr>
            </a:pPr>
            <a:r>
              <a:t>    listen 80;</a:t>
            </a:r>
          </a:p>
          <a:p>
            <a:pPr>
              <a:spcAft>
                <a:spcPts val="50"/>
              </a:spcAft>
              <a:defRPr sz="1150">
                <a:solidFill>
                  <a:srgbClr val="F1F5F9"/>
                </a:solidFill>
                <a:latin typeface="Consolas"/>
              </a:defRPr>
            </a:pPr>
            <a:r>
              <a:t>    server_name myapp.local localhost;</a:t>
            </a:r>
          </a:p>
          <a:p>
            <a:pPr>
              <a:spcAft>
                <a:spcPts val="50"/>
              </a:spcAft>
              <a:defRPr sz="1150" b="1">
                <a:solidFill>
                  <a:srgbClr val="38BDF8"/>
                </a:solidFill>
                <a:latin typeface="Consolas"/>
              </a:defRPr>
            </a:pPr>
            <a:r>
              <a:t>    location / {</a:t>
            </a:r>
          </a:p>
          <a:p>
            <a:pPr>
              <a:spcAft>
                <a:spcPts val="50"/>
              </a:spcAft>
              <a:defRPr sz="1150">
                <a:solidFill>
                  <a:srgbClr val="F1F5F9"/>
                </a:solidFill>
                <a:latin typeface="Consolas"/>
              </a:defRPr>
            </a:pPr>
            <a:r>
              <a:t>        root /usr/share/nginx/html;</a:t>
            </a:r>
          </a:p>
          <a:p>
            <a:pPr>
              <a:spcAft>
                <a:spcPts val="50"/>
              </a:spcAft>
              <a:defRPr sz="1150">
                <a:solidFill>
                  <a:srgbClr val="F1F5F9"/>
                </a:solidFill>
                <a:latin typeface="Consolas"/>
              </a:defRPr>
            </a:pPr>
            <a:r>
              <a:t>        index index.html index.htm;</a:t>
            </a:r>
          </a:p>
          <a:p>
            <a:pPr>
              <a:spcAft>
                <a:spcPts val="50"/>
              </a:spcAft>
              <a:defRPr sz="1150">
                <a:solidFill>
                  <a:srgbClr val="F1F5F9"/>
                </a:solidFill>
                <a:latin typeface="Consolas"/>
              </a:defRPr>
            </a:pPr>
            <a:r>
              <a:t>        try_files $uri $uri/ =404;</a:t>
            </a:r>
          </a:p>
          <a:p>
            <a:pPr>
              <a:spcAft>
                <a:spcPts val="50"/>
              </a:spcAft>
              <a:defRPr sz="1150">
                <a:solidFill>
                  <a:srgbClr val="F1F5F9"/>
                </a:solidFill>
                <a:latin typeface="Consolas"/>
              </a:defRPr>
            </a:pPr>
            <a:r>
              <a:t>    }</a:t>
            </a:r>
          </a:p>
          <a:p>
            <a:pPr>
              <a:spcAft>
                <a:spcPts val="50"/>
              </a:spcAft>
              <a:defRPr sz="1150">
                <a:solidFill>
                  <a:srgbClr val="F1F5F9"/>
                </a:solidFill>
                <a:latin typeface="Consolas"/>
              </a:defRPr>
            </a:pPr>
            <a:r>
              <a:t>}</a:t>
            </a:r>
          </a:p>
        </p:txBody>
      </p:sp>
      <p:sp>
        <p:nvSpPr>
          <p:cNvPr id="14" name="Rounded Rectangle 13"/>
          <p:cNvSpPr/>
          <p:nvPr/>
        </p:nvSpPr>
        <p:spPr>
          <a:xfrm>
            <a:off x="6217920" y="2057400"/>
            <a:ext cx="5242255"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Các Chỉ thị Cốt lõi của Web Server</a:t>
            </a:r>
          </a:p>
        </p:txBody>
      </p:sp>
      <p:sp>
        <p:nvSpPr>
          <p:cNvPr id="16" name="TextBox 15"/>
          <p:cNvSpPr txBox="1"/>
          <p:nvPr/>
        </p:nvSpPr>
        <p:spPr>
          <a:xfrm>
            <a:off x="6446520" y="2560320"/>
            <a:ext cx="4754880" cy="1645920"/>
          </a:xfrm>
          <a:prstGeom prst="rect">
            <a:avLst/>
          </a:prstGeom>
          <a:noFill/>
        </p:spPr>
        <p:txBody>
          <a:bodyPr wrap="square">
            <a:spAutoFit/>
          </a:bodyPr>
          <a:lstStyle/>
          <a:p/>
          <a:p>
            <a:pPr>
              <a:spcAft>
                <a:spcPts val="700"/>
              </a:spcAft>
            </a:pPr>
            <a:r>
              <a:rPr b="1" sz="1400">
                <a:solidFill>
                  <a:srgbClr val="103672"/>
                </a:solidFill>
              </a:rPr>
              <a:t>• root: </a:t>
            </a:r>
            <a:r>
              <a:rPr sz="1350">
                <a:solidFill>
                  <a:srgbClr val="0F172A"/>
                </a:solidFill>
              </a:rPr>
              <a:t>Xác định đường dẫn thư mục gốc trên ổ đĩa chứa các file tĩnh (HTML, CSS, JS, ảnh).</a:t>
            </a:r>
          </a:p>
          <a:p>
            <a:pPr>
              <a:spcAft>
                <a:spcPts val="700"/>
              </a:spcAft>
            </a:pPr>
            <a:r>
              <a:rPr b="1" sz="1400">
                <a:solidFill>
                  <a:srgbClr val="103672"/>
                </a:solidFill>
              </a:rPr>
              <a:t>• index: </a:t>
            </a:r>
            <a:r>
              <a:rPr sz="1350">
                <a:solidFill>
                  <a:srgbClr val="0F172A"/>
                </a:solidFill>
              </a:rPr>
              <a:t>Tên file mặc định NGINX sẽ tìm kiếm khi client truy cập vào thư mục gốc ('/').</a:t>
            </a:r>
          </a:p>
          <a:p>
            <a:pPr>
              <a:spcAft>
                <a:spcPts val="700"/>
              </a:spcAft>
            </a:pPr>
            <a:r>
              <a:rPr b="1" sz="1400">
                <a:solidFill>
                  <a:srgbClr val="103672"/>
                </a:solidFill>
              </a:rPr>
              <a:t>• Hiệu năng cao: </a:t>
            </a:r>
            <a:r>
              <a:rPr sz="1350">
                <a:solidFill>
                  <a:srgbClr val="0F172A"/>
                </a:solidFill>
              </a:rPr>
              <a:t>NGINX truyền file trực tiếp qua kernel zero-copy (sendfile), không qua runtime ứng dụng.</a:t>
            </a:r>
          </a:p>
        </p:txBody>
      </p:sp>
      <p:sp>
        <p:nvSpPr>
          <p:cNvPr id="17" name="Rounded Rectangle 16"/>
          <p:cNvSpPr/>
          <p:nvPr/>
        </p:nvSpPr>
        <p:spPr>
          <a:xfrm>
            <a:off x="731520" y="4434840"/>
            <a:ext cx="10728655" cy="1755648"/>
          </a:xfrm>
          <a:prstGeom prst="roundRect">
            <a:avLst/>
          </a:prstGeom>
          <a:solidFill>
            <a:srgbClr val="F8FAFC"/>
          </a:solidFill>
          <a:ln w="19050">
            <a:solidFill>
              <a:srgbClr val="1C64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434840"/>
            <a:ext cx="10728655" cy="329184"/>
          </a:xfrm>
          <a:prstGeom prst="rect">
            <a:avLst/>
          </a:prstGeom>
          <a:solidFill>
            <a:srgbClr val="1C64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489704"/>
            <a:ext cx="10362895" cy="219456"/>
          </a:xfrm>
          <a:prstGeom prst="rect">
            <a:avLst/>
          </a:prstGeom>
          <a:noFill/>
        </p:spPr>
        <p:txBody>
          <a:bodyPr wrap="none" lIns="0" tIns="0" rIns="0" bIns="0">
            <a:spAutoFit/>
          </a:bodyPr>
          <a:lstStyle/>
          <a:p>
            <a:pPr>
              <a:defRPr sz="1100" b="1">
                <a:solidFill>
                  <a:srgbClr val="FFFFFF"/>
                </a:solidFill>
                <a:latin typeface="Segoe UI"/>
              </a:defRPr>
            </a:pPr>
            <a:r>
              <a:t>KẾ HOẠCH DEMO ĐỀ XUẤT • BƯỚC 1: NGINX LÀM WEB SERVER PHỤC VỤ FRONTEND TĨNH</a:t>
            </a:r>
          </a:p>
        </p:txBody>
      </p:sp>
      <p:sp>
        <p:nvSpPr>
          <p:cNvPr id="20" name="TextBox 19"/>
          <p:cNvSpPr txBox="1"/>
          <p:nvPr/>
        </p:nvSpPr>
        <p:spPr>
          <a:xfrm>
            <a:off x="914400" y="4818888"/>
            <a:ext cx="10362895" cy="1335024"/>
          </a:xfrm>
          <a:prstGeom prst="rect">
            <a:avLst/>
          </a:prstGeom>
          <a:noFill/>
        </p:spPr>
        <p:txBody>
          <a:bodyPr wrap="square" lIns="0" tIns="0" rIns="0" bIns="0">
            <a:spAutoFit/>
          </a:bodyPr>
          <a:lstStyle/>
          <a:p>
            <a:pPr>
              <a:spcAft>
                <a:spcPts val="200"/>
              </a:spcAft>
            </a:pPr>
            <a:r>
              <a:rPr sz="1300" b="1">
                <a:solidFill>
                  <a:srgbClr val="103672"/>
                </a:solidFill>
                <a:latin typeface="Segoe UI"/>
              </a:rPr>
              <a:t>▶ Thao tác: </a:t>
            </a:r>
            <a:r>
              <a:rPr sz="1250">
                <a:solidFill>
                  <a:srgbClr val="0F172A"/>
                </a:solidFill>
                <a:latin typeface="Segoe UI"/>
              </a:rPr>
              <a:t>Khởi chạy container NGINX đã mount thư mục './frontend' vào '/usr/share/nginx/html'. Mở trình duyệt truy cập 'http://localhost:8080/'.</a:t>
            </a:r>
          </a:p>
          <a:p>
            <a:pPr>
              <a:spcAft>
                <a:spcPts val="200"/>
              </a:spcAft>
            </a:pPr>
            <a:r>
              <a:rPr sz="1300" b="1">
                <a:solidFill>
                  <a:srgbClr val="16A34A"/>
                </a:solidFill>
                <a:latin typeface="Segoe UI"/>
              </a:rPr>
              <a:t>▶ Kết quả dự kiến: </a:t>
            </a:r>
            <a:r>
              <a:rPr sz="1250">
                <a:solidFill>
                  <a:srgbClr val="0F172A"/>
                </a:solidFill>
                <a:latin typeface="Segoe UI"/>
              </a:rPr>
              <a:t>Trình duyệt tải thành công trang chủ HTML, tải đầy đủ CSS/JS, hiển thị mã trạng thái HTTP 200 OK trên tab Network.</a:t>
            </a:r>
          </a:p>
          <a:p>
            <a:r>
              <a:rPr sz="1300" b="1">
                <a:solidFill>
                  <a:srgbClr val="1C64BA"/>
                </a:solidFill>
                <a:latin typeface="Segoe UI"/>
              </a:rPr>
              <a:t>▶ Khái niệm chứng minh: </a:t>
            </a:r>
            <a:r>
              <a:rPr sz="1250">
                <a:solidFill>
                  <a:srgbClr val="0F172A"/>
                </a:solidFill>
                <a:latin typeface="Segoe UI"/>
              </a:rPr>
              <a:t>Chứng minh NGINX đọc trực tiếp tệp tĩnh từ đĩa vật lý qua chỉ thị 'root' và 'index' với tốc độ cao, độc lập với backend.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09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ĐỊNH TUYẾN ỨNG DỤNG</a:t>
            </a:r>
          </a:p>
          <a:p>
            <a:pPr>
              <a:defRPr sz="2500" b="1">
                <a:solidFill>
                  <a:srgbClr val="103672"/>
                </a:solidFill>
                <a:latin typeface="Segoe UI"/>
              </a:defRPr>
            </a:pPr>
            <a:r>
              <a:t>Cơ chế SPA Fallback try_files &amp; Bản chất Lỗi 404</a:t>
            </a:r>
          </a:p>
        </p:txBody>
      </p:sp>
      <p:sp>
        <p:nvSpPr>
          <p:cNvPr id="10" name="Rounded Rectangle 9"/>
          <p:cNvSpPr/>
          <p:nvPr/>
        </p:nvSpPr>
        <p:spPr>
          <a:xfrm>
            <a:off x="731520" y="2057400"/>
            <a:ext cx="512064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Bản chất Lỗi 404 khi Refresh trong SPA</a:t>
            </a:r>
          </a:p>
        </p:txBody>
      </p:sp>
      <p:sp>
        <p:nvSpPr>
          <p:cNvPr id="12" name="TextBox 11"/>
          <p:cNvSpPr txBox="1"/>
          <p:nvPr/>
        </p:nvSpPr>
        <p:spPr>
          <a:xfrm>
            <a:off x="960120" y="2606040"/>
            <a:ext cx="4663440" cy="3383280"/>
          </a:xfrm>
          <a:prstGeom prst="rect">
            <a:avLst/>
          </a:prstGeom>
          <a:noFill/>
        </p:spPr>
        <p:txBody>
          <a:bodyPr wrap="square">
            <a:spAutoFit/>
          </a:bodyPr>
          <a:lstStyle/>
          <a:p/>
          <a:p>
            <a:pPr>
              <a:spcAft>
                <a:spcPts val="500"/>
              </a:spcAft>
            </a:pPr>
            <a:r>
              <a:rPr b="1" sz="1400">
                <a:solidFill>
                  <a:srgbClr val="DC2626"/>
                </a:solidFill>
              </a:rPr>
              <a:t>⚠ Đặc tính của SPA (React/Vue):
</a:t>
            </a:r>
            <a:r>
              <a:rPr sz="1300">
                <a:solidFill>
                  <a:srgbClr val="0F172A"/>
                </a:solidFill>
              </a:rPr>
              <a:t>  Sử dụng HTML5 History API để định tuyến ảo tại trình duyệt client (ví dụ: '/products/123').</a:t>
            </a:r>
          </a:p>
          <a:p>
            <a:pPr>
              <a:spcAft>
                <a:spcPts val="500"/>
              </a:spcAft>
            </a:pPr>
            <a:r>
              <a:rPr b="1" sz="1400">
                <a:solidFill>
                  <a:srgbClr val="DC2626"/>
                </a:solidFill>
              </a:rPr>
              <a:t>⚠ Tình huống phát sinh lỗi:
</a:t>
            </a:r>
            <a:r>
              <a:rPr sz="1300">
                <a:solidFill>
                  <a:srgbClr val="0F172A"/>
                </a:solidFill>
              </a:rPr>
              <a:t>  Người dùng đang duyệt tại '/products/123' và nhấn F5 (Reload trang).</a:t>
            </a:r>
          </a:p>
          <a:p>
            <a:pPr>
              <a:spcAft>
                <a:spcPts val="500"/>
              </a:spcAft>
            </a:pPr>
            <a:r>
              <a:rPr b="1" sz="1400">
                <a:solidFill>
                  <a:srgbClr val="DC2626"/>
                </a:solidFill>
              </a:rPr>
              <a:t>⚠ Phản ứng mặc định của NGINX:
</a:t>
            </a:r>
            <a:r>
              <a:rPr sz="1300">
                <a:solidFill>
                  <a:srgbClr val="0F172A"/>
                </a:solidFill>
              </a:rPr>
              <a:t>  NGINX tìm kiếm thư mục vật lý '/usr/share/nginx/html/products/123' trên đĩa máy chủ.</a:t>
            </a:r>
          </a:p>
          <a:p>
            <a:pPr>
              <a:spcAft>
                <a:spcPts val="500"/>
              </a:spcAft>
            </a:pPr>
            <a:r>
              <a:rPr b="1" sz="1400">
                <a:solidFill>
                  <a:srgbClr val="DC2626"/>
                </a:solidFill>
              </a:rPr>
              <a:t>⚠ Hậu quả lỗi 404:
</a:t>
            </a:r>
            <a:r>
              <a:rPr sz="1300">
                <a:solidFill>
                  <a:srgbClr val="0F172A"/>
                </a:solidFill>
              </a:rPr>
              <a:t>  Do trên ổ đĩa chỉ có 1 file 'index.html', đường dẫn vật lý kia không tồn tại -&gt; NGINX trả về mã lỗi 404 Not Found!</a:t>
            </a:r>
          </a:p>
        </p:txBody>
      </p:sp>
      <p:sp>
        <p:nvSpPr>
          <p:cNvPr id="13" name="Rounded Rectangle 12"/>
          <p:cNvSpPr/>
          <p:nvPr/>
        </p:nvSpPr>
        <p:spPr>
          <a:xfrm>
            <a:off x="6217920" y="2057400"/>
            <a:ext cx="5242255"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Giải pháp Chuẩn mực: Chỉ thị try_files</a:t>
            </a:r>
          </a:p>
        </p:txBody>
      </p:sp>
      <p:sp>
        <p:nvSpPr>
          <p:cNvPr id="15" name="TextBox 14"/>
          <p:cNvSpPr txBox="1"/>
          <p:nvPr/>
        </p:nvSpPr>
        <p:spPr>
          <a:xfrm>
            <a:off x="6446520" y="2606040"/>
            <a:ext cx="4754880" cy="3383280"/>
          </a:xfrm>
          <a:prstGeom prst="rect">
            <a:avLst/>
          </a:prstGeom>
          <a:noFill/>
        </p:spPr>
        <p:txBody>
          <a:bodyPr wrap="square">
            <a:spAutoFit/>
          </a:bodyPr>
          <a:lstStyle/>
          <a:p/>
          <a:p>
            <a:pPr>
              <a:spcAft>
                <a:spcPts val="500"/>
              </a:spcAft>
            </a:pPr>
            <a:r>
              <a:rPr b="1" sz="1400">
                <a:solidFill>
                  <a:srgbClr val="16A34A"/>
                </a:solidFill>
              </a:rPr>
              <a:t>✔ Cú pháp cấu hình:
</a:t>
            </a:r>
            <a:r>
              <a:rPr sz="1300">
                <a:solidFill>
                  <a:srgbClr val="0F172A"/>
                </a:solidFill>
              </a:rPr>
              <a:t>  try_files $uri $uri/ /index.html;</a:t>
            </a:r>
          </a:p>
          <a:p>
            <a:pPr>
              <a:spcAft>
                <a:spcPts val="500"/>
              </a:spcAft>
            </a:pPr>
            <a:r>
              <a:rPr b="1" sz="1400">
                <a:solidFill>
                  <a:srgbClr val="16A34A"/>
                </a:solidFill>
              </a:rPr>
              <a:t>✔ Bước 1 ($uri):
</a:t>
            </a:r>
            <a:r>
              <a:rPr sz="1300">
                <a:solidFill>
                  <a:srgbClr val="0F172A"/>
                </a:solidFill>
              </a:rPr>
              <a:t>  Kiểm tra xem có file vật lý khớp chính xác với URL không (vd: logo.png, style.css). Nếu có -&gt; phục vụ ngay.</a:t>
            </a:r>
          </a:p>
          <a:p>
            <a:pPr>
              <a:spcAft>
                <a:spcPts val="500"/>
              </a:spcAft>
            </a:pPr>
            <a:r>
              <a:rPr b="1" sz="1400">
                <a:solidFill>
                  <a:srgbClr val="16A34A"/>
                </a:solidFill>
              </a:rPr>
              <a:t>✔ Bước 2 ($uri/):
</a:t>
            </a:r>
            <a:r>
              <a:rPr sz="1300">
                <a:solidFill>
                  <a:srgbClr val="0F172A"/>
                </a:solidFill>
              </a:rPr>
              <a:t>  Nếu không có file, kiểm tra xem có thư mục con vật lý tương ứng không.</a:t>
            </a:r>
          </a:p>
          <a:p>
            <a:pPr>
              <a:spcAft>
                <a:spcPts val="500"/>
              </a:spcAft>
            </a:pPr>
            <a:r>
              <a:rPr b="1" sz="1400">
                <a:solidFill>
                  <a:srgbClr val="16A34A"/>
                </a:solidFill>
              </a:rPr>
              <a:t>✔ Bước 3 (Fallback /index.html):
</a:t>
            </a:r>
            <a:r>
              <a:rPr sz="1300">
                <a:solidFill>
                  <a:srgbClr val="0F172A"/>
                </a:solidFill>
              </a:rPr>
              <a:t>  Nếu cả hai không có, NGINX trả về 'index.html' (HTTP 200). JS router client sẽ đọc URL và hiển thị đúng màn hình.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10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TÍCH HỢP HỆ THỐNG &amp; DEMO</a:t>
            </a:r>
          </a:p>
          <a:p>
            <a:pPr>
              <a:defRPr sz="2500" b="1">
                <a:solidFill>
                  <a:srgbClr val="103672"/>
                </a:solidFill>
                <a:latin typeface="Segoe UI"/>
              </a:defRPr>
            </a:pPr>
            <a:r>
              <a:t>Reverse Proxy Ghép cặp FE - BE &amp; Cơ chế Same-Origin</a:t>
            </a:r>
          </a:p>
        </p:txBody>
      </p:sp>
      <p:sp>
        <p:nvSpPr>
          <p:cNvPr id="10" name="Rounded Rectangle 9"/>
          <p:cNvSpPr/>
          <p:nvPr/>
        </p:nvSpPr>
        <p:spPr>
          <a:xfrm>
            <a:off x="731520" y="2057400"/>
            <a:ext cx="5120640" cy="2240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057400"/>
            <a:ext cx="5120640" cy="320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12264"/>
            <a:ext cx="4754880" cy="219456"/>
          </a:xfrm>
          <a:prstGeom prst="rect">
            <a:avLst/>
          </a:prstGeom>
          <a:noFill/>
        </p:spPr>
        <p:txBody>
          <a:bodyPr wrap="none" lIns="0" tIns="0" rIns="0" bIns="0">
            <a:spAutoFit/>
          </a:bodyPr>
          <a:lstStyle/>
          <a:p>
            <a:pPr>
              <a:defRPr sz="1050" b="1">
                <a:solidFill>
                  <a:srgbClr val="94A3B8"/>
                </a:solidFill>
                <a:latin typeface="Consolas"/>
              </a:defRPr>
            </a:pPr>
            <a:r>
              <a:t>nginx/reverse_proxy.conf</a:t>
            </a:r>
          </a:p>
        </p:txBody>
      </p:sp>
      <p:sp>
        <p:nvSpPr>
          <p:cNvPr id="13" name="TextBox 12"/>
          <p:cNvSpPr txBox="1"/>
          <p:nvPr/>
        </p:nvSpPr>
        <p:spPr>
          <a:xfrm>
            <a:off x="960120" y="2441448"/>
            <a:ext cx="4663440" cy="1801368"/>
          </a:xfrm>
          <a:prstGeom prst="rect">
            <a:avLst/>
          </a:prstGeom>
          <a:noFill/>
        </p:spPr>
        <p:txBody>
          <a:bodyPr wrap="square" lIns="0" tIns="0" rIns="0" bIns="0">
            <a:spAutoFit/>
          </a:bodyPr>
          <a:lstStyle/>
          <a:p>
            <a:pPr>
              <a:spcAft>
                <a:spcPts val="50"/>
              </a:spcAft>
              <a:defRPr sz="1350" b="1">
                <a:solidFill>
                  <a:srgbClr val="38BDF8"/>
                </a:solidFill>
                <a:latin typeface="Consolas"/>
              </a:defRPr>
            </a:pPr>
            <a:r>
              <a:t>location /api/ {</a:t>
            </a:r>
          </a:p>
          <a:p>
            <a:pPr>
              <a:spcAft>
                <a:spcPts val="50"/>
              </a:spcAft>
              <a:defRPr sz="1350">
                <a:solidFill>
                  <a:srgbClr val="94A3B8"/>
                </a:solidFill>
                <a:latin typeface="Consolas"/>
              </a:defRPr>
            </a:pPr>
            <a:r>
              <a:t>    # Chuyển tiếp tới backend (giữ nguyên /api/)</a:t>
            </a:r>
          </a:p>
          <a:p>
            <a:pPr>
              <a:spcAft>
                <a:spcPts val="50"/>
              </a:spcAft>
              <a:defRPr sz="1350">
                <a:solidFill>
                  <a:srgbClr val="F1F5F9"/>
                </a:solidFill>
                <a:latin typeface="Consolas"/>
              </a:defRPr>
            </a:pPr>
            <a:r>
              <a:t>    proxy_pass http://backend_cluster;</a:t>
            </a:r>
          </a:p>
          <a:p>
            <a:pPr>
              <a:spcAft>
                <a:spcPts val="50"/>
              </a:spcAft>
              <a:defRPr sz="1350">
                <a:solidFill>
                  <a:srgbClr val="F1F5F9"/>
                </a:solidFill>
                <a:latin typeface="Consolas"/>
              </a:defRPr>
            </a:pPr>
            <a:r>
              <a:t>    proxy_set_header Host $host;</a:t>
            </a:r>
          </a:p>
          <a:p>
            <a:pPr>
              <a:spcAft>
                <a:spcPts val="50"/>
              </a:spcAft>
              <a:defRPr sz="1350">
                <a:solidFill>
                  <a:srgbClr val="F1F5F9"/>
                </a:solidFill>
                <a:latin typeface="Consolas"/>
              </a:defRPr>
            </a:pPr>
            <a:r>
              <a:t>    proxy_set_header X-Real-IP $remote_addr;</a:t>
            </a:r>
          </a:p>
          <a:p>
            <a:pPr>
              <a:spcAft>
                <a:spcPts val="50"/>
              </a:spcAft>
              <a:defRPr sz="1350">
                <a:solidFill>
                  <a:srgbClr val="F1F5F9"/>
                </a:solidFill>
                <a:latin typeface="Consolas"/>
              </a:defRPr>
            </a:pPr>
            <a:r>
              <a:t>}</a:t>
            </a:r>
          </a:p>
        </p:txBody>
      </p:sp>
      <p:sp>
        <p:nvSpPr>
          <p:cNvPr id="14" name="Rounded Rectangle 13"/>
          <p:cNvSpPr/>
          <p:nvPr/>
        </p:nvSpPr>
        <p:spPr>
          <a:xfrm>
            <a:off x="6217920" y="2057400"/>
            <a:ext cx="5242255"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Cơ chế Same-Origin &amp; Quy tắc proxy_pass</a:t>
            </a:r>
          </a:p>
        </p:txBody>
      </p:sp>
      <p:sp>
        <p:nvSpPr>
          <p:cNvPr id="16" name="TextBox 15"/>
          <p:cNvSpPr txBox="1"/>
          <p:nvPr/>
        </p:nvSpPr>
        <p:spPr>
          <a:xfrm>
            <a:off x="6446520" y="2560320"/>
            <a:ext cx="4754880" cy="1645920"/>
          </a:xfrm>
          <a:prstGeom prst="rect">
            <a:avLst/>
          </a:prstGeom>
          <a:noFill/>
        </p:spPr>
        <p:txBody>
          <a:bodyPr wrap="square">
            <a:spAutoFit/>
          </a:bodyPr>
          <a:lstStyle/>
          <a:p/>
          <a:p>
            <a:pPr>
              <a:spcAft>
                <a:spcPts val="500"/>
              </a:spcAft>
            </a:pPr>
            <a:r>
              <a:rPr b="1" sz="1300">
                <a:solidFill>
                  <a:srgbClr val="103672"/>
                </a:solidFill>
              </a:rPr>
              <a:t>• Tránh CORS qua Same-Origin: </a:t>
            </a:r>
            <a:r>
              <a:rPr sz="1250">
                <a:solidFill>
                  <a:srgbClr val="0F172A"/>
                </a:solidFill>
              </a:rPr>
              <a:t>Frontend và API cùng phục vụ dưới một Origin duy nhất ('http://localhost:8080'). Trình duyệt không kích hoạt kiểm tra CORS cho các request nội bộ.</a:t>
            </a:r>
          </a:p>
          <a:p>
            <a:pPr>
              <a:spcAft>
                <a:spcPts val="500"/>
              </a:spcAft>
            </a:pPr>
            <a:r>
              <a:rPr b="1" sz="1300">
                <a:solidFill>
                  <a:srgbClr val="103672"/>
                </a:solidFill>
              </a:rPr>
              <a:t>• Quy tắc dấu '/' trong proxy_pass: </a:t>
            </a:r>
            <a:r>
              <a:rPr sz="1250">
                <a:solidFill>
                  <a:srgbClr val="0F172A"/>
                </a:solidFill>
              </a:rPr>
              <a:t>Cấu hình 'proxy_pass http://backend_cluster;' (không có dấu / cuối) giữ nguyên tiền tố '/api/' khi chuyển tiếp tới route '/api/products' của backend.</a:t>
            </a:r>
          </a:p>
        </p:txBody>
      </p:sp>
      <p:sp>
        <p:nvSpPr>
          <p:cNvPr id="17" name="Rounded Rectangle 16"/>
          <p:cNvSpPr/>
          <p:nvPr/>
        </p:nvSpPr>
        <p:spPr>
          <a:xfrm>
            <a:off x="731520" y="4434840"/>
            <a:ext cx="10728655" cy="1755648"/>
          </a:xfrm>
          <a:prstGeom prst="roundRect">
            <a:avLst/>
          </a:prstGeom>
          <a:solidFill>
            <a:srgbClr val="F8FAFC"/>
          </a:solidFill>
          <a:ln w="19050">
            <a:solidFill>
              <a:srgbClr val="1C64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434840"/>
            <a:ext cx="10728655" cy="329184"/>
          </a:xfrm>
          <a:prstGeom prst="rect">
            <a:avLst/>
          </a:prstGeom>
          <a:solidFill>
            <a:srgbClr val="1C64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489704"/>
            <a:ext cx="10362895" cy="219456"/>
          </a:xfrm>
          <a:prstGeom prst="rect">
            <a:avLst/>
          </a:prstGeom>
          <a:noFill/>
        </p:spPr>
        <p:txBody>
          <a:bodyPr wrap="none" lIns="0" tIns="0" rIns="0" bIns="0">
            <a:spAutoFit/>
          </a:bodyPr>
          <a:lstStyle/>
          <a:p>
            <a:pPr>
              <a:defRPr sz="1100" b="1">
                <a:solidFill>
                  <a:srgbClr val="FFFFFF"/>
                </a:solidFill>
                <a:latin typeface="Segoe UI"/>
              </a:defRPr>
            </a:pPr>
            <a:r>
              <a:t>KẾ HOẠCH DEMO ĐỀ XUẤT • BƯỚC 2: REVERSE PROXY CHO FE + BE &amp; KIỂM CHỨNG SAME-ORIGIN</a:t>
            </a:r>
          </a:p>
        </p:txBody>
      </p:sp>
      <p:sp>
        <p:nvSpPr>
          <p:cNvPr id="20" name="TextBox 19"/>
          <p:cNvSpPr txBox="1"/>
          <p:nvPr/>
        </p:nvSpPr>
        <p:spPr>
          <a:xfrm>
            <a:off x="914400" y="4818888"/>
            <a:ext cx="10362895" cy="1335024"/>
          </a:xfrm>
          <a:prstGeom prst="rect">
            <a:avLst/>
          </a:prstGeom>
          <a:noFill/>
        </p:spPr>
        <p:txBody>
          <a:bodyPr wrap="square" lIns="0" tIns="0" rIns="0" bIns="0">
            <a:spAutoFit/>
          </a:bodyPr>
          <a:lstStyle/>
          <a:p>
            <a:pPr>
              <a:spcAft>
                <a:spcPts val="200"/>
              </a:spcAft>
            </a:pPr>
            <a:r>
              <a:rPr sz="1300" b="1">
                <a:solidFill>
                  <a:srgbClr val="103672"/>
                </a:solidFill>
                <a:latin typeface="Segoe UI"/>
              </a:rPr>
              <a:t>▶ Thao tác: </a:t>
            </a:r>
            <a:r>
              <a:rPr sz="1250">
                <a:solidFill>
                  <a:srgbClr val="0F172A"/>
                </a:solidFill>
                <a:latin typeface="Segoe UI"/>
              </a:rPr>
              <a:t>Frontend gọi API 'GET /api/products' (lấy danh mục sách/khóa học) và 'POST /api/orders' (đặt hàng) qua NGINX. Backend đọc/ghi dữ liệu vào PostgreSQL thật và trả kết quả kèm instanceId.</a:t>
            </a:r>
          </a:p>
          <a:p>
            <a:pPr>
              <a:spcAft>
                <a:spcPts val="200"/>
              </a:spcAft>
            </a:pPr>
            <a:r>
              <a:rPr sz="1300" b="1">
                <a:solidFill>
                  <a:srgbClr val="16A34A"/>
                </a:solidFill>
                <a:latin typeface="Segoe UI"/>
              </a:rPr>
              <a:t>▶ Kết quả dự kiến: </a:t>
            </a:r>
            <a:r>
              <a:rPr sz="1250">
                <a:solidFill>
                  <a:srgbClr val="0F172A"/>
                </a:solidFill>
                <a:latin typeface="Segoe UI"/>
              </a:rPr>
              <a:t>Dữ liệu học liệu trả về JSON hiển thị trên storefront; Đơn hàng lưu thành công vào CSDL; Console không bị lỗi CORS; Log backend ghi nhận request.</a:t>
            </a:r>
          </a:p>
          <a:p>
            <a:r>
              <a:rPr sz="1300" b="1">
                <a:solidFill>
                  <a:srgbClr val="1C64BA"/>
                </a:solidFill>
                <a:latin typeface="Segoe UI"/>
              </a:rPr>
              <a:t>▶ Khái niệm chứng minh: </a:t>
            </a:r>
            <a:r>
              <a:rPr sz="1250">
                <a:solidFill>
                  <a:srgbClr val="0F172A"/>
                </a:solidFill>
                <a:latin typeface="Segoe UI"/>
              </a:rPr>
              <a:t>Chứng minh NGINX định tuyến path '/api/' vào backend thông suốt, tạo môi trường Same-Origin giúp luồng gọi API nội bộ không bị rào cản CORS.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11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BẢO TOÀN THÔNG TIN</a:t>
            </a:r>
          </a:p>
          <a:p>
            <a:pPr>
              <a:defRPr sz="2500" b="1">
                <a:solidFill>
                  <a:srgbClr val="103672"/>
                </a:solidFill>
                <a:latin typeface="Segoe UI"/>
              </a:defRPr>
            </a:pPr>
            <a:r>
              <a:t>Các Proxy Headers Quan trọng &amp; Trusted Proxies</a:t>
            </a:r>
          </a:p>
        </p:txBody>
      </p:sp>
      <p:sp>
        <p:nvSpPr>
          <p:cNvPr id="10" name="Rounded Rectangle 9"/>
          <p:cNvSpPr/>
          <p:nvPr/>
        </p:nvSpPr>
        <p:spPr>
          <a:xfrm>
            <a:off x="731520" y="2057400"/>
            <a:ext cx="5120640" cy="1965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proxy_set_header Host $host;</a:t>
            </a:r>
          </a:p>
        </p:txBody>
      </p:sp>
      <p:sp>
        <p:nvSpPr>
          <p:cNvPr id="12" name="TextBox 11"/>
          <p:cNvSpPr txBox="1"/>
          <p:nvPr/>
        </p:nvSpPr>
        <p:spPr>
          <a:xfrm>
            <a:off x="914400" y="2560320"/>
            <a:ext cx="4754880" cy="1371600"/>
          </a:xfrm>
          <a:prstGeom prst="rect">
            <a:avLst/>
          </a:prstGeom>
          <a:noFill/>
        </p:spPr>
        <p:txBody>
          <a:bodyPr wrap="square">
            <a:spAutoFit/>
          </a:bodyPr>
          <a:lstStyle/>
          <a:p>
            <a:pPr>
              <a:defRPr sz="1350">
                <a:solidFill>
                  <a:srgbClr val="0F172A"/>
                </a:solidFill>
              </a:defRPr>
            </a:pPr>
            <a:r>
              <a:t>• Ý nghĩa: Giữ nguyên tên miền gốc mà client gõ trên thanh địa chỉ (vd: 'myapp.local:8080').</a:t>
            </a:r>
            <a:br/>
            <a:r>
              <a:t>• Nếu thiếu: Backend nhận tên server nội bộ (vd: 'api1:3000') khiến các đường link tuyệt đối do backend tự sinh bị sai lệch hoàn toàn.</a:t>
            </a:r>
          </a:p>
        </p:txBody>
      </p:sp>
      <p:sp>
        <p:nvSpPr>
          <p:cNvPr id="13" name="Rounded Rectangle 12"/>
          <p:cNvSpPr/>
          <p:nvPr/>
        </p:nvSpPr>
        <p:spPr>
          <a:xfrm>
            <a:off x="6217920" y="2057400"/>
            <a:ext cx="5242255" cy="1965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proxy_set_header X-Real-IP $remote_addr;</a:t>
            </a:r>
          </a:p>
        </p:txBody>
      </p:sp>
      <p:sp>
        <p:nvSpPr>
          <p:cNvPr id="15" name="TextBox 14"/>
          <p:cNvSpPr txBox="1"/>
          <p:nvPr/>
        </p:nvSpPr>
        <p:spPr>
          <a:xfrm>
            <a:off x="6400800" y="2560320"/>
            <a:ext cx="4876495" cy="1371600"/>
          </a:xfrm>
          <a:prstGeom prst="rect">
            <a:avLst/>
          </a:prstGeom>
          <a:noFill/>
        </p:spPr>
        <p:txBody>
          <a:bodyPr wrap="square">
            <a:spAutoFit/>
          </a:bodyPr>
          <a:lstStyle/>
          <a:p>
            <a:pPr>
              <a:defRPr sz="1350">
                <a:solidFill>
                  <a:srgbClr val="0F172A"/>
                </a:solidFill>
              </a:defRPr>
            </a:pPr>
            <a:r>
              <a:t>• Ý nghĩa: Chuyển tiếp địa chỉ IP thật của máy client ($remote_addr) tới backend.</a:t>
            </a:r>
            <a:br/>
            <a:r>
              <a:t>• Lưu ý Docker: Trong mạng bridge, nếu không có header này, backend chỉ thấy IP của container NGINX (vd: 172.20.0.x), không phải 127.0.0.1 hay IP của client.</a:t>
            </a:r>
          </a:p>
        </p:txBody>
      </p:sp>
      <p:sp>
        <p:nvSpPr>
          <p:cNvPr id="16" name="Rounded Rectangle 15"/>
          <p:cNvSpPr/>
          <p:nvPr/>
        </p:nvSpPr>
        <p:spPr>
          <a:xfrm>
            <a:off x="731520" y="4160520"/>
            <a:ext cx="5120640" cy="1965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325112"/>
            <a:ext cx="4663440" cy="365760"/>
          </a:xfrm>
          <a:prstGeom prst="rect">
            <a:avLst/>
          </a:prstGeom>
          <a:noFill/>
        </p:spPr>
        <p:txBody>
          <a:bodyPr wrap="none" lIns="0" tIns="0" rIns="0" bIns="0">
            <a:spAutoFit/>
          </a:bodyPr>
          <a:lstStyle/>
          <a:p>
            <a:pPr>
              <a:defRPr sz="1600" b="1">
                <a:solidFill>
                  <a:srgbClr val="103672"/>
                </a:solidFill>
                <a:latin typeface="Segoe UI"/>
              </a:defRPr>
            </a:pPr>
            <a:r>
              <a:t>X-Forwarded-For &amp; X-Forwarded-Proto</a:t>
            </a:r>
          </a:p>
        </p:txBody>
      </p:sp>
      <p:sp>
        <p:nvSpPr>
          <p:cNvPr id="18" name="TextBox 17"/>
          <p:cNvSpPr txBox="1"/>
          <p:nvPr/>
        </p:nvSpPr>
        <p:spPr>
          <a:xfrm>
            <a:off x="914400" y="4663440"/>
            <a:ext cx="4754880" cy="1371600"/>
          </a:xfrm>
          <a:prstGeom prst="rect">
            <a:avLst/>
          </a:prstGeom>
          <a:noFill/>
        </p:spPr>
        <p:txBody>
          <a:bodyPr wrap="square">
            <a:spAutoFit/>
          </a:bodyPr>
          <a:lstStyle/>
          <a:p>
            <a:pPr>
              <a:defRPr sz="1350">
                <a:solidFill>
                  <a:srgbClr val="0F172A"/>
                </a:solidFill>
              </a:defRPr>
            </a:pPr>
            <a:r>
              <a:t>• X-Forwarded-For: Danh sách chuỗi các IP proxy mà request đã đi qua ($proxy_add_x_forwarded_for).</a:t>
            </a:r>
            <a:br/>
            <a:r>
              <a:t>• X-Forwarded-Proto: Giữ nguyên giao thức gốc (http hoặc https) giúp backend sinh URL chuyển hướng chuẩn xác.</a:t>
            </a:r>
          </a:p>
        </p:txBody>
      </p:sp>
      <p:sp>
        <p:nvSpPr>
          <p:cNvPr id="19" name="Rounded Rectangle 18"/>
          <p:cNvSpPr/>
          <p:nvPr/>
        </p:nvSpPr>
        <p:spPr>
          <a:xfrm>
            <a:off x="6217920" y="4160520"/>
            <a:ext cx="5242255" cy="1965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325112"/>
            <a:ext cx="4785055" cy="365760"/>
          </a:xfrm>
          <a:prstGeom prst="rect">
            <a:avLst/>
          </a:prstGeom>
          <a:noFill/>
        </p:spPr>
        <p:txBody>
          <a:bodyPr wrap="none" lIns="0" tIns="0" rIns="0" bIns="0">
            <a:spAutoFit/>
          </a:bodyPr>
          <a:lstStyle/>
          <a:p>
            <a:pPr>
              <a:defRPr sz="1600" b="1">
                <a:solidFill>
                  <a:srgbClr val="103672"/>
                </a:solidFill>
                <a:latin typeface="Segoe UI"/>
              </a:defRPr>
            </a:pPr>
            <a:r>
              <a:t>Cảnh báo Bảo mật: Cấu hình Trusted Proxies</a:t>
            </a:r>
          </a:p>
        </p:txBody>
      </p:sp>
      <p:sp>
        <p:nvSpPr>
          <p:cNvPr id="21" name="TextBox 20"/>
          <p:cNvSpPr txBox="1"/>
          <p:nvPr/>
        </p:nvSpPr>
        <p:spPr>
          <a:xfrm>
            <a:off x="6400800" y="4663440"/>
            <a:ext cx="4876495" cy="1371600"/>
          </a:xfrm>
          <a:prstGeom prst="rect">
            <a:avLst/>
          </a:prstGeom>
          <a:noFill/>
        </p:spPr>
        <p:txBody>
          <a:bodyPr wrap="square">
            <a:spAutoFit/>
          </a:bodyPr>
          <a:lstStyle/>
          <a:p>
            <a:pPr>
              <a:defRPr sz="1350">
                <a:solidFill>
                  <a:srgbClr val="0F172A"/>
                </a:solidFill>
              </a:defRPr>
            </a:pPr>
            <a:r>
              <a:t>• Nguy cơ IP Spoofing: Kẻ tấn công có thể tự chèn header X-Forwarded-For giả mạo nếu gửi trực tiếp.</a:t>
            </a:r>
            <a:br/>
            <a:r>
              <a:t>• Quy tắc chuẩn: Backend chỉ được tin tưởng các header chuyển tiếp khi request đến từ dải IP của Reverse Proxy đáng tin cậy (cấu hình 'trust proxy' trong Express/NestJS).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12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CÂN BẰNG TẢI &amp; SẴN SÀNG</a:t>
            </a:r>
          </a:p>
          <a:p>
            <a:pPr>
              <a:defRPr sz="2500" b="1">
                <a:solidFill>
                  <a:srgbClr val="103672"/>
                </a:solidFill>
                <a:latin typeface="Segoe UI"/>
              </a:defRPr>
            </a:pPr>
            <a:r>
              <a:t>Cấu hình Upstream Cân bằng tải nhiều Backend</a:t>
            </a:r>
          </a:p>
        </p:txBody>
      </p:sp>
      <p:sp>
        <p:nvSpPr>
          <p:cNvPr id="10" name="Rounded Rectangle 9"/>
          <p:cNvSpPr/>
          <p:nvPr/>
        </p:nvSpPr>
        <p:spPr>
          <a:xfrm>
            <a:off x="731520" y="2057400"/>
            <a:ext cx="5120640" cy="2240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057400"/>
            <a:ext cx="5120640" cy="320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12264"/>
            <a:ext cx="4754880" cy="219456"/>
          </a:xfrm>
          <a:prstGeom prst="rect">
            <a:avLst/>
          </a:prstGeom>
          <a:noFill/>
        </p:spPr>
        <p:txBody>
          <a:bodyPr wrap="none" lIns="0" tIns="0" rIns="0" bIns="0">
            <a:spAutoFit/>
          </a:bodyPr>
          <a:lstStyle/>
          <a:p>
            <a:pPr>
              <a:defRPr sz="1050" b="1">
                <a:solidFill>
                  <a:srgbClr val="94A3B8"/>
                </a:solidFill>
                <a:latin typeface="Consolas"/>
              </a:defRPr>
            </a:pPr>
            <a:r>
              <a:t>nginx/upstream.conf</a:t>
            </a:r>
          </a:p>
        </p:txBody>
      </p:sp>
      <p:sp>
        <p:nvSpPr>
          <p:cNvPr id="13" name="TextBox 12"/>
          <p:cNvSpPr txBox="1"/>
          <p:nvPr/>
        </p:nvSpPr>
        <p:spPr>
          <a:xfrm>
            <a:off x="960120" y="2441448"/>
            <a:ext cx="4663440" cy="1801368"/>
          </a:xfrm>
          <a:prstGeom prst="rect">
            <a:avLst/>
          </a:prstGeom>
          <a:noFill/>
        </p:spPr>
        <p:txBody>
          <a:bodyPr wrap="square" lIns="0" tIns="0" rIns="0" bIns="0">
            <a:spAutoFit/>
          </a:bodyPr>
          <a:lstStyle/>
          <a:p>
            <a:pPr>
              <a:spcAft>
                <a:spcPts val="50"/>
              </a:spcAft>
              <a:defRPr sz="1200" b="1">
                <a:solidFill>
                  <a:srgbClr val="38BDF8"/>
                </a:solidFill>
                <a:latin typeface="Consolas"/>
              </a:defRPr>
            </a:pPr>
            <a:r>
              <a:t>upstream backend_cluster {</a:t>
            </a:r>
          </a:p>
          <a:p>
            <a:pPr>
              <a:spcAft>
                <a:spcPts val="50"/>
              </a:spcAft>
              <a:defRPr sz="1200">
                <a:solidFill>
                  <a:srgbClr val="94A3B8"/>
                </a:solidFill>
                <a:latin typeface="Consolas"/>
              </a:defRPr>
            </a:pPr>
            <a:r>
              <a:t>    # Thuật toán mặc định: Round-Robin</a:t>
            </a:r>
          </a:p>
          <a:p>
            <a:pPr>
              <a:spcAft>
                <a:spcPts val="50"/>
              </a:spcAft>
              <a:defRPr sz="1200" b="1">
                <a:solidFill>
                  <a:srgbClr val="38BDF8"/>
                </a:solidFill>
                <a:latin typeface="Consolas"/>
              </a:defRPr>
            </a:pPr>
            <a:r>
              <a:t>    server api1:3000 max_fails=3 fail_timeout=10s;</a:t>
            </a:r>
          </a:p>
          <a:p>
            <a:pPr>
              <a:spcAft>
                <a:spcPts val="50"/>
              </a:spcAft>
              <a:defRPr sz="1200" b="1">
                <a:solidFill>
                  <a:srgbClr val="38BDF8"/>
                </a:solidFill>
                <a:latin typeface="Consolas"/>
              </a:defRPr>
            </a:pPr>
            <a:r>
              <a:t>    server api2:3000 max_fails=3 fail_timeout=10s;</a:t>
            </a:r>
          </a:p>
          <a:p>
            <a:pPr>
              <a:spcAft>
                <a:spcPts val="50"/>
              </a:spcAft>
              <a:defRPr sz="1200">
                <a:solidFill>
                  <a:srgbClr val="94A3B8"/>
                </a:solidFill>
                <a:latin typeface="Consolas"/>
              </a:defRPr>
            </a:pPr>
            <a:r>
              <a:t>    # least_conn;  # Cân bằng ít kết nối nhất</a:t>
            </a:r>
          </a:p>
          <a:p>
            <a:pPr>
              <a:spcAft>
                <a:spcPts val="50"/>
              </a:spcAft>
              <a:defRPr sz="1200">
                <a:solidFill>
                  <a:srgbClr val="F1F5F9"/>
                </a:solidFill>
                <a:latin typeface="Consolas"/>
              </a:defRPr>
            </a:pPr>
            <a:r>
              <a:t>}</a:t>
            </a:r>
          </a:p>
        </p:txBody>
      </p:sp>
      <p:sp>
        <p:nvSpPr>
          <p:cNvPr id="14" name="Rounded Rectangle 13"/>
          <p:cNvSpPr/>
          <p:nvPr/>
        </p:nvSpPr>
        <p:spPr>
          <a:xfrm>
            <a:off x="6217920" y="2057400"/>
            <a:ext cx="5242255"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Cơ chế Phân phối &amp; Lưu ý Sẵn sàng cao</a:t>
            </a:r>
          </a:p>
        </p:txBody>
      </p:sp>
      <p:sp>
        <p:nvSpPr>
          <p:cNvPr id="16" name="TextBox 15"/>
          <p:cNvSpPr txBox="1"/>
          <p:nvPr/>
        </p:nvSpPr>
        <p:spPr>
          <a:xfrm>
            <a:off x="6446520" y="2560320"/>
            <a:ext cx="4785055" cy="1645920"/>
          </a:xfrm>
          <a:prstGeom prst="rect">
            <a:avLst/>
          </a:prstGeom>
          <a:noFill/>
        </p:spPr>
        <p:txBody>
          <a:bodyPr wrap="square">
            <a:spAutoFit/>
          </a:bodyPr>
          <a:lstStyle/>
          <a:p/>
          <a:p>
            <a:pPr>
              <a:spcAft>
                <a:spcPts val="700"/>
              </a:spcAft>
            </a:pPr>
            <a:r>
              <a:rPr b="1" sz="1350">
                <a:solidFill>
                  <a:srgbClr val="103672"/>
                </a:solidFill>
              </a:rPr>
              <a:t>• Thuật toán Round-Robin: </a:t>
            </a:r>
            <a:r>
              <a:rPr sz="1300">
                <a:solidFill>
                  <a:srgbClr val="0F172A"/>
                </a:solidFill>
              </a:rPr>
              <a:t>Mặc định phân phối tuần tự giữa api1 và api2. Trong thực tế, tỷ lệ có thể không chia đều 50/50 tuyệt đối do HTTP Keep-Alive hoặc browser prefetch.</a:t>
            </a:r>
          </a:p>
          <a:p>
            <a:pPr>
              <a:spcAft>
                <a:spcPts val="700"/>
              </a:spcAft>
            </a:pPr>
            <a:r>
              <a:rPr b="1" sz="1350">
                <a:solidFill>
                  <a:srgbClr val="103672"/>
                </a:solidFill>
              </a:rPr>
              <a:t>• Lưu ý High Availability (HA): </a:t>
            </a:r>
            <a:r>
              <a:rPr sz="1300">
                <a:solidFill>
                  <a:srgbClr val="0F172A"/>
                </a:solidFill>
              </a:rPr>
              <a:t>Cụm 2 backend giúp chia tải và loại bỏ SPOF ở tầng backend, nhưng toàn hệ thống chưa đạt HA toàn diện vì chỉ có duy nhất 1 NGINX Gateway đóng vai trò SPOF.</a:t>
            </a:r>
          </a:p>
        </p:txBody>
      </p:sp>
      <p:sp>
        <p:nvSpPr>
          <p:cNvPr id="17" name="Rounded Rectangle 16"/>
          <p:cNvSpPr/>
          <p:nvPr/>
        </p:nvSpPr>
        <p:spPr>
          <a:xfrm>
            <a:off x="731520" y="4434840"/>
            <a:ext cx="10728655" cy="1755648"/>
          </a:xfrm>
          <a:prstGeom prst="roundRect">
            <a:avLst/>
          </a:prstGeom>
          <a:solidFill>
            <a:srgbClr val="F8FAFC"/>
          </a:solidFill>
          <a:ln w="19050">
            <a:solidFill>
              <a:srgbClr val="1C64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434840"/>
            <a:ext cx="10728655" cy="329184"/>
          </a:xfrm>
          <a:prstGeom prst="rect">
            <a:avLst/>
          </a:prstGeom>
          <a:solidFill>
            <a:srgbClr val="1C64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489704"/>
            <a:ext cx="10362895" cy="219456"/>
          </a:xfrm>
          <a:prstGeom prst="rect">
            <a:avLst/>
          </a:prstGeom>
          <a:noFill/>
        </p:spPr>
        <p:txBody>
          <a:bodyPr wrap="none" lIns="0" tIns="0" rIns="0" bIns="0">
            <a:spAutoFit/>
          </a:bodyPr>
          <a:lstStyle/>
          <a:p>
            <a:pPr>
              <a:defRPr sz="1100" b="1">
                <a:solidFill>
                  <a:srgbClr val="FFFFFF"/>
                </a:solidFill>
                <a:latin typeface="Segoe UI"/>
              </a:defRPr>
            </a:pPr>
            <a:r>
              <a:t>KẾ HOẠCH DEMO ĐỀ XUẤT • BƯỚC 3: UPSTREAM CÂN BẰNG TẢI QUA NHIỀU BACKEND INSTANCE</a:t>
            </a:r>
          </a:p>
        </p:txBody>
      </p:sp>
      <p:sp>
        <p:nvSpPr>
          <p:cNvPr id="20" name="TextBox 19"/>
          <p:cNvSpPr txBox="1"/>
          <p:nvPr/>
        </p:nvSpPr>
        <p:spPr>
          <a:xfrm>
            <a:off x="914400" y="4818888"/>
            <a:ext cx="10362895" cy="1335024"/>
          </a:xfrm>
          <a:prstGeom prst="rect">
            <a:avLst/>
          </a:prstGeom>
          <a:noFill/>
        </p:spPr>
        <p:txBody>
          <a:bodyPr wrap="square" lIns="0" tIns="0" rIns="0" bIns="0">
            <a:spAutoFit/>
          </a:bodyPr>
          <a:lstStyle/>
          <a:p>
            <a:pPr>
              <a:spcAft>
                <a:spcPts val="200"/>
              </a:spcAft>
            </a:pPr>
            <a:r>
              <a:rPr sz="1300" b="1">
                <a:solidFill>
                  <a:srgbClr val="103672"/>
                </a:solidFill>
                <a:latin typeface="Segoe UI"/>
              </a:rPr>
              <a:t>▶ Thao tác: </a:t>
            </a:r>
            <a:r>
              <a:rPr sz="1250">
                <a:solidFill>
                  <a:srgbClr val="0F172A"/>
                </a:solidFill>
                <a:latin typeface="Segoe UI"/>
              </a:rPr>
              <a:t>Khởi chạy song song 2 instance backend (api1:3000, api2:3000) trong compose.yaml. Gửi liên tiếp 10 request 'GET /api/products' hoặc tạo đơn hàng.</a:t>
            </a:r>
          </a:p>
          <a:p>
            <a:pPr>
              <a:spcAft>
                <a:spcPts val="200"/>
              </a:spcAft>
            </a:pPr>
            <a:r>
              <a:rPr sz="1300" b="1">
                <a:solidFill>
                  <a:srgbClr val="16A34A"/>
                </a:solidFill>
                <a:latin typeface="Segoe UI"/>
              </a:rPr>
              <a:t>▶ Kết quả dự kiến: </a:t>
            </a:r>
            <a:r>
              <a:rPr sz="1250">
                <a:solidFill>
                  <a:srgbClr val="0F172A"/>
                </a:solidFill>
                <a:latin typeface="Segoe UI"/>
              </a:rPr>
              <a:t>Dữ liệu phản hồi mang header X-Backend-Instance và trường 'instanceId' luân phiên giữa api1 và api2, chứng minh tải được phân phối đều.</a:t>
            </a:r>
          </a:p>
          <a:p>
            <a:r>
              <a:rPr sz="1300" b="1">
                <a:solidFill>
                  <a:srgbClr val="1C64BA"/>
                </a:solidFill>
                <a:latin typeface="Segoe UI"/>
              </a:rPr>
              <a:t>▶ Khái niệm chứng minh: </a:t>
            </a:r>
            <a:r>
              <a:rPr sz="1250">
                <a:solidFill>
                  <a:srgbClr val="0F172A"/>
                </a:solidFill>
                <a:latin typeface="Segoe UI"/>
              </a:rPr>
              <a:t>Chứng minh cơ chế Upstream của NGINX tự động phân phối tải và tăng cường năng lực phục vụ cho hệ thống backend.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13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MÔI TRƯỜNG CONTAINER</a:t>
            </a:r>
          </a:p>
          <a:p>
            <a:pPr>
              <a:defRPr sz="2500" b="1">
                <a:solidFill>
                  <a:srgbClr val="103672"/>
                </a:solidFill>
                <a:latin typeface="Segoe UI"/>
              </a:defRPr>
            </a:pPr>
            <a:r>
              <a:t>Mạng Docker Compose: Service Name vs localhost</a:t>
            </a:r>
          </a:p>
        </p:txBody>
      </p:sp>
      <p:sp>
        <p:nvSpPr>
          <p:cNvPr id="10" name="Rounded Rectangle 9"/>
          <p:cNvSpPr/>
          <p:nvPr/>
        </p:nvSpPr>
        <p:spPr>
          <a:xfrm>
            <a:off x="731520" y="2057400"/>
            <a:ext cx="512064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Cơ chế Docker Network &amp; Service Discovery</a:t>
            </a:r>
          </a:p>
        </p:txBody>
      </p:sp>
      <p:sp>
        <p:nvSpPr>
          <p:cNvPr id="12" name="TextBox 11"/>
          <p:cNvSpPr txBox="1"/>
          <p:nvPr/>
        </p:nvSpPr>
        <p:spPr>
          <a:xfrm>
            <a:off x="960120" y="2606040"/>
            <a:ext cx="4663440" cy="3383280"/>
          </a:xfrm>
          <a:prstGeom prst="rect">
            <a:avLst/>
          </a:prstGeom>
          <a:noFill/>
        </p:spPr>
        <p:txBody>
          <a:bodyPr wrap="square">
            <a:spAutoFit/>
          </a:bodyPr>
          <a:lstStyle/>
          <a:p/>
          <a:p>
            <a:pPr>
              <a:spcAft>
                <a:spcPts val="500"/>
              </a:spcAft>
            </a:pPr>
            <a:r>
              <a:rPr b="1" sz="1400">
                <a:solidFill>
                  <a:srgbClr val="103672"/>
                </a:solidFill>
              </a:rPr>
              <a:t>✔ Mạng Cầu nối Mặc định (Bridge):
</a:t>
            </a:r>
            <a:r>
              <a:rPr sz="1300">
                <a:solidFill>
                  <a:srgbClr val="0F172A"/>
                </a:solidFill>
              </a:rPr>
              <a:t>  Docker Compose tự động khởi tạo mạng bridge (ví dụ: 'app_net') liên kết các container trong cùng stack.</a:t>
            </a:r>
          </a:p>
          <a:p>
            <a:pPr>
              <a:spcAft>
                <a:spcPts val="500"/>
              </a:spcAft>
            </a:pPr>
            <a:r>
              <a:rPr b="1" sz="1400">
                <a:solidFill>
                  <a:srgbClr val="103672"/>
                </a:solidFill>
              </a:rPr>
              <a:t>✔ DNS Nội bộ Docker (127.0.0.11):
</a:t>
            </a:r>
            <a:r>
              <a:rPr sz="1300">
                <a:solidFill>
                  <a:srgbClr val="0F172A"/>
                </a:solidFill>
              </a:rPr>
              <a:t>  Mỗi service name ('api1', 'api2', 'db', 'proxy') tự động được phân giải thành địa chỉ IP nội bộ của container tương ứng.</a:t>
            </a:r>
          </a:p>
          <a:p>
            <a:pPr>
              <a:spcAft>
                <a:spcPts val="500"/>
              </a:spcAft>
            </a:pPr>
            <a:r>
              <a:rPr b="1" sz="1400">
                <a:solidFill>
                  <a:srgbClr val="103672"/>
                </a:solidFill>
              </a:rPr>
              <a:t>✔ Định tuyến bằng Service Name:
</a:t>
            </a:r>
            <a:r>
              <a:rPr sz="1300">
                <a:solidFill>
                  <a:srgbClr val="0F172A"/>
                </a:solidFill>
              </a:rPr>
              <a:t>  NGINX chỉ cần cấu hình 'server api1:3000;' mà không cần quan tâm IP nội bộ có thay đổi sau mỗi lần khởi động lại.</a:t>
            </a:r>
          </a:p>
          <a:p>
            <a:pPr>
              <a:spcAft>
                <a:spcPts val="500"/>
              </a:spcAft>
            </a:pPr>
            <a:r>
              <a:rPr b="1" sz="1400">
                <a:solidFill>
                  <a:srgbClr val="103672"/>
                </a:solidFill>
              </a:rPr>
              <a:t>✔ Mã cổng nội bộ 3000:
</a:t>
            </a:r>
            <a:r>
              <a:rPr sz="1300">
                <a:solidFill>
                  <a:srgbClr val="0F172A"/>
                </a:solidFill>
              </a:rPr>
              <a:t>  Chỉ cần lệnh 'expose: 3000' trong compose.yaml, không cần mở 'ports:' ra máy host, giúp bảo vệ an toàn cho backend.</a:t>
            </a:r>
          </a:p>
        </p:txBody>
      </p:sp>
      <p:sp>
        <p:nvSpPr>
          <p:cNvPr id="13" name="Rounded Rectangle 12"/>
          <p:cNvSpPr/>
          <p:nvPr/>
        </p:nvSpPr>
        <p:spPr>
          <a:xfrm>
            <a:off x="6217920" y="2057400"/>
            <a:ext cx="5242255"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Bẫy Sai lầm Kinh điển: 'localhost' trong Container</a:t>
            </a:r>
          </a:p>
        </p:txBody>
      </p:sp>
      <p:sp>
        <p:nvSpPr>
          <p:cNvPr id="15" name="TextBox 14"/>
          <p:cNvSpPr txBox="1"/>
          <p:nvPr/>
        </p:nvSpPr>
        <p:spPr>
          <a:xfrm>
            <a:off x="6446520" y="2606040"/>
            <a:ext cx="4754880" cy="3383280"/>
          </a:xfrm>
          <a:prstGeom prst="rect">
            <a:avLst/>
          </a:prstGeom>
          <a:noFill/>
        </p:spPr>
        <p:txBody>
          <a:bodyPr wrap="square">
            <a:spAutoFit/>
          </a:bodyPr>
          <a:lstStyle/>
          <a:p/>
          <a:p>
            <a:pPr>
              <a:spcAft>
                <a:spcPts val="800"/>
              </a:spcAft>
            </a:pPr>
            <a:r>
              <a:rPr b="1" sz="1400">
                <a:solidFill>
                  <a:srgbClr val="DC2626"/>
                </a:solidFill>
              </a:rPr>
              <a:t>⚠ Bản chất Network Namespace:
</a:t>
            </a:r>
            <a:r>
              <a:rPr sz="1300">
                <a:solidFill>
                  <a:srgbClr val="0F172A"/>
                </a:solidFill>
              </a:rPr>
              <a:t>  Mỗi container có Network Namespace riêng biệt hoàn toàn. Do đó 'localhost' hay '127.0.0.1' bên trong container NGINX trỏ về chính container NGINX!</a:t>
            </a:r>
          </a:p>
          <a:p>
            <a:pPr>
              <a:spcAft>
                <a:spcPts val="800"/>
              </a:spcAft>
            </a:pPr>
            <a:r>
              <a:rPr b="1" sz="1400">
                <a:solidFill>
                  <a:srgbClr val="DC2626"/>
                </a:solidFill>
              </a:rPr>
              <a:t>⚠ Hậu quả lỗi 502 Bad Gateway:
</a:t>
            </a:r>
            <a:r>
              <a:rPr sz="1300">
                <a:solidFill>
                  <a:srgbClr val="0F172A"/>
                </a:solidFill>
              </a:rPr>
              <a:t>  Nếu cấu hình 'proxy_pass http://localhost:3000;', NGINX sẽ tìm cổng 3000 của chính nó (vốn không có) -&gt; Lập tức báo lỗi 502 Bad Gateway!</a:t>
            </a:r>
          </a:p>
          <a:p>
            <a:pPr>
              <a:spcAft>
                <a:spcPts val="800"/>
              </a:spcAft>
            </a:pPr>
            <a:r>
              <a:rPr b="1" sz="1400">
                <a:solidFill>
                  <a:srgbClr val="DC2626"/>
                </a:solidFill>
              </a:rPr>
              <a:t>⚠ Quy tắc bắt buộc:
</a:t>
            </a:r>
            <a:r>
              <a:rPr sz="1300">
                <a:solidFill>
                  <a:srgbClr val="0F172A"/>
                </a:solidFill>
              </a:rPr>
              <a:t>  Luôn dùng Service Name được đặt tên trong compose.yaml để kết nối giữa các container trong mạng nội bộ.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14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CẤU HÌNH MẪU THỰC HÀNH</a:t>
            </a:r>
          </a:p>
          <a:p>
            <a:pPr>
              <a:defRPr sz="2500" b="1">
                <a:solidFill>
                  <a:srgbClr val="103672"/>
                </a:solidFill>
                <a:latin typeface="Segoe UI"/>
              </a:defRPr>
            </a:pPr>
            <a:r>
              <a:t>Cấu trúc Server Block NGINX Mẫu Thực hành</a:t>
            </a:r>
          </a:p>
        </p:txBody>
      </p:sp>
      <p:sp>
        <p:nvSpPr>
          <p:cNvPr id="10" name="Rounded Rectangle 9"/>
          <p:cNvSpPr/>
          <p:nvPr/>
        </p:nvSpPr>
        <p:spPr>
          <a:xfrm>
            <a:off x="731520" y="2057400"/>
            <a:ext cx="6035040" cy="41148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057400"/>
            <a:ext cx="6035040" cy="320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12264"/>
            <a:ext cx="5669280" cy="219456"/>
          </a:xfrm>
          <a:prstGeom prst="rect">
            <a:avLst/>
          </a:prstGeom>
          <a:noFill/>
        </p:spPr>
        <p:txBody>
          <a:bodyPr wrap="none" lIns="0" tIns="0" rIns="0" bIns="0">
            <a:spAutoFit/>
          </a:bodyPr>
          <a:lstStyle/>
          <a:p>
            <a:pPr>
              <a:defRPr sz="1050" b="1">
                <a:solidFill>
                  <a:srgbClr val="94A3B8"/>
                </a:solidFill>
                <a:latin typeface="Consolas"/>
              </a:defRPr>
            </a:pPr>
            <a:r>
              <a:t>nginx/conf.d/default.conf (Lab Standard)</a:t>
            </a:r>
          </a:p>
        </p:txBody>
      </p:sp>
      <p:sp>
        <p:nvSpPr>
          <p:cNvPr id="13" name="TextBox 12"/>
          <p:cNvSpPr txBox="1"/>
          <p:nvPr/>
        </p:nvSpPr>
        <p:spPr>
          <a:xfrm>
            <a:off x="960120" y="2441448"/>
            <a:ext cx="5577840" cy="3675888"/>
          </a:xfrm>
          <a:prstGeom prst="rect">
            <a:avLst/>
          </a:prstGeom>
          <a:noFill/>
        </p:spPr>
        <p:txBody>
          <a:bodyPr wrap="square" lIns="0" tIns="0" rIns="0" bIns="0">
            <a:spAutoFit/>
          </a:bodyPr>
          <a:lstStyle/>
          <a:p>
            <a:pPr>
              <a:spcAft>
                <a:spcPts val="50"/>
              </a:spcAft>
              <a:defRPr sz="1100" b="1">
                <a:solidFill>
                  <a:srgbClr val="38BDF8"/>
                </a:solidFill>
                <a:latin typeface="Consolas"/>
              </a:defRPr>
            </a:pPr>
            <a:r>
              <a:t>upstream backend_cluster {</a:t>
            </a:r>
          </a:p>
          <a:p>
            <a:pPr>
              <a:spcAft>
                <a:spcPts val="50"/>
              </a:spcAft>
              <a:defRPr sz="1100" b="1">
                <a:solidFill>
                  <a:srgbClr val="38BDF8"/>
                </a:solidFill>
                <a:latin typeface="Consolas"/>
              </a:defRPr>
            </a:pPr>
            <a:r>
              <a:t>    server api1:3000 max_fails=3 fail_timeout=10s;</a:t>
            </a:r>
          </a:p>
          <a:p>
            <a:pPr>
              <a:spcAft>
                <a:spcPts val="50"/>
              </a:spcAft>
              <a:defRPr sz="1100" b="1">
                <a:solidFill>
                  <a:srgbClr val="38BDF8"/>
                </a:solidFill>
                <a:latin typeface="Consolas"/>
              </a:defRPr>
            </a:pPr>
            <a:r>
              <a:t>    server api2:3000 max_fails=3 fail_timeout=10s;</a:t>
            </a:r>
          </a:p>
          <a:p>
            <a:pPr>
              <a:spcAft>
                <a:spcPts val="50"/>
              </a:spcAft>
              <a:defRPr sz="1100">
                <a:solidFill>
                  <a:srgbClr val="F1F5F9"/>
                </a:solidFill>
                <a:latin typeface="Consolas"/>
              </a:defRPr>
            </a:pPr>
            <a:r>
              <a:t>}</a:t>
            </a:r>
          </a:p>
          <a:p>
            <a:pPr>
              <a:spcAft>
                <a:spcPts val="50"/>
              </a:spcAft>
              <a:defRPr sz="1100" b="1">
                <a:solidFill>
                  <a:srgbClr val="38BDF8"/>
                </a:solidFill>
                <a:latin typeface="Consolas"/>
              </a:defRPr>
            </a:pPr>
            <a:r>
              <a:t>server {</a:t>
            </a:r>
          </a:p>
          <a:p>
            <a:pPr>
              <a:spcAft>
                <a:spcPts val="50"/>
              </a:spcAft>
              <a:defRPr sz="1100" b="1">
                <a:solidFill>
                  <a:srgbClr val="38BDF8"/>
                </a:solidFill>
                <a:latin typeface="Consolas"/>
              </a:defRPr>
            </a:pPr>
            <a:r>
              <a:t>    listen 80;</a:t>
            </a:r>
          </a:p>
          <a:p>
            <a:pPr>
              <a:spcAft>
                <a:spcPts val="50"/>
              </a:spcAft>
              <a:defRPr sz="1100">
                <a:solidFill>
                  <a:srgbClr val="F1F5F9"/>
                </a:solidFill>
                <a:latin typeface="Consolas"/>
              </a:defRPr>
            </a:pPr>
            <a:r>
              <a:t>    server_name myapp.local localhost;</a:t>
            </a:r>
          </a:p>
          <a:p>
            <a:pPr>
              <a:spcAft>
                <a:spcPts val="50"/>
              </a:spcAft>
              <a:defRPr sz="1100" b="1">
                <a:solidFill>
                  <a:srgbClr val="38BDF8"/>
                </a:solidFill>
                <a:latin typeface="Consolas"/>
              </a:defRPr>
            </a:pPr>
            <a:r>
              <a:t>    client_max_body_size 1m;</a:t>
            </a:r>
          </a:p>
          <a:p>
            <a:pPr>
              <a:spcAft>
                <a:spcPts val="50"/>
              </a:spcAft>
              <a:defRPr sz="1100" b="1">
                <a:solidFill>
                  <a:srgbClr val="38BDF8"/>
                </a:solidFill>
                <a:latin typeface="Consolas"/>
              </a:defRPr>
            </a:pPr>
            <a:r>
              <a:t>    location / {</a:t>
            </a:r>
          </a:p>
          <a:p>
            <a:pPr>
              <a:spcAft>
                <a:spcPts val="50"/>
              </a:spcAft>
              <a:defRPr sz="1100">
                <a:solidFill>
                  <a:srgbClr val="F1F5F9"/>
                </a:solidFill>
                <a:latin typeface="Consolas"/>
              </a:defRPr>
            </a:pPr>
            <a:r>
              <a:t>        root /usr/share/nginx/html;</a:t>
            </a:r>
          </a:p>
          <a:p>
            <a:pPr>
              <a:spcAft>
                <a:spcPts val="50"/>
              </a:spcAft>
              <a:defRPr sz="1100">
                <a:solidFill>
                  <a:srgbClr val="F1F5F9"/>
                </a:solidFill>
                <a:latin typeface="Consolas"/>
              </a:defRPr>
            </a:pPr>
            <a:r>
              <a:t>        try_files $uri $uri/ /index.html;</a:t>
            </a:r>
          </a:p>
          <a:p>
            <a:pPr>
              <a:spcAft>
                <a:spcPts val="50"/>
              </a:spcAft>
              <a:defRPr sz="1100">
                <a:solidFill>
                  <a:srgbClr val="F1F5F9"/>
                </a:solidFill>
                <a:latin typeface="Consolas"/>
              </a:defRPr>
            </a:pPr>
            <a:r>
              <a:t>    }</a:t>
            </a:r>
          </a:p>
          <a:p>
            <a:pPr>
              <a:spcAft>
                <a:spcPts val="50"/>
              </a:spcAft>
              <a:defRPr sz="1100" b="1">
                <a:solidFill>
                  <a:srgbClr val="38BDF8"/>
                </a:solidFill>
                <a:latin typeface="Consolas"/>
              </a:defRPr>
            </a:pPr>
            <a:r>
              <a:t>    location /api/ {</a:t>
            </a:r>
          </a:p>
          <a:p>
            <a:pPr>
              <a:spcAft>
                <a:spcPts val="50"/>
              </a:spcAft>
              <a:defRPr sz="1100">
                <a:solidFill>
                  <a:srgbClr val="F1F5F9"/>
                </a:solidFill>
                <a:latin typeface="Consolas"/>
              </a:defRPr>
            </a:pPr>
            <a:r>
              <a:t>        proxy_pass http://backend_cluster;</a:t>
            </a:r>
          </a:p>
          <a:p>
            <a:pPr>
              <a:spcAft>
                <a:spcPts val="50"/>
              </a:spcAft>
              <a:defRPr sz="1100">
                <a:solidFill>
                  <a:srgbClr val="F1F5F9"/>
                </a:solidFill>
                <a:latin typeface="Consolas"/>
              </a:defRPr>
            </a:pPr>
            <a:r>
              <a:t>        proxy_set_header Host $host;</a:t>
            </a:r>
          </a:p>
          <a:p>
            <a:pPr>
              <a:spcAft>
                <a:spcPts val="50"/>
              </a:spcAft>
              <a:defRPr sz="1100">
                <a:solidFill>
                  <a:srgbClr val="F1F5F9"/>
                </a:solidFill>
                <a:latin typeface="Consolas"/>
              </a:defRPr>
            </a:pPr>
            <a:r>
              <a:t>        proxy_set_header X-Real-IP $remote_addr;</a:t>
            </a:r>
          </a:p>
          <a:p>
            <a:pPr>
              <a:spcAft>
                <a:spcPts val="50"/>
              </a:spcAft>
              <a:defRPr sz="1100">
                <a:solidFill>
                  <a:srgbClr val="F1F5F9"/>
                </a:solidFill>
                <a:latin typeface="Consolas"/>
              </a:defRPr>
            </a:pPr>
            <a:r>
              <a:t>    }</a:t>
            </a:r>
          </a:p>
          <a:p>
            <a:pPr>
              <a:spcAft>
                <a:spcPts val="50"/>
              </a:spcAft>
              <a:defRPr sz="1100">
                <a:solidFill>
                  <a:srgbClr val="F1F5F9"/>
                </a:solidFill>
                <a:latin typeface="Consolas"/>
              </a:defRPr>
            </a:pPr>
            <a:r>
              <a:t>}</a:t>
            </a:r>
          </a:p>
        </p:txBody>
      </p:sp>
      <p:sp>
        <p:nvSpPr>
          <p:cNvPr id="14" name="Rounded Rectangle 13"/>
          <p:cNvSpPr/>
          <p:nvPr/>
        </p:nvSpPr>
        <p:spPr>
          <a:xfrm>
            <a:off x="6949440" y="2057400"/>
            <a:ext cx="4510735"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78040" y="2221992"/>
            <a:ext cx="4053535" cy="365760"/>
          </a:xfrm>
          <a:prstGeom prst="rect">
            <a:avLst/>
          </a:prstGeom>
          <a:noFill/>
        </p:spPr>
        <p:txBody>
          <a:bodyPr wrap="none" lIns="0" tIns="0" rIns="0" bIns="0">
            <a:spAutoFit/>
          </a:bodyPr>
          <a:lstStyle/>
          <a:p>
            <a:pPr>
              <a:defRPr sz="1600" b="1">
                <a:solidFill>
                  <a:srgbClr val="103672"/>
                </a:solidFill>
                <a:latin typeface="Segoe UI"/>
              </a:defRPr>
            </a:pPr>
            <a:r>
              <a:t>Bóc tách Thành phần Thiết yếu</a:t>
            </a:r>
          </a:p>
        </p:txBody>
      </p:sp>
      <p:sp>
        <p:nvSpPr>
          <p:cNvPr id="16" name="TextBox 15"/>
          <p:cNvSpPr txBox="1"/>
          <p:nvPr/>
        </p:nvSpPr>
        <p:spPr>
          <a:xfrm>
            <a:off x="7178040" y="2606040"/>
            <a:ext cx="4023360" cy="3383280"/>
          </a:xfrm>
          <a:prstGeom prst="rect">
            <a:avLst/>
          </a:prstGeom>
          <a:noFill/>
        </p:spPr>
        <p:txBody>
          <a:bodyPr wrap="square">
            <a:spAutoFit/>
          </a:bodyPr>
          <a:lstStyle/>
          <a:p/>
          <a:p>
            <a:pPr>
              <a:spcAft>
                <a:spcPts val="600"/>
              </a:spcAft>
            </a:pPr>
            <a:r>
              <a:rPr b="1" sz="1350">
                <a:solidFill>
                  <a:srgbClr val="103672"/>
                </a:solidFill>
              </a:rPr>
              <a:t>• listen &amp; server_name:
</a:t>
            </a:r>
            <a:r>
              <a:rPr sz="1250">
                <a:solidFill>
                  <a:srgbClr val="0F172A"/>
                </a:solidFill>
              </a:rPr>
              <a:t>  Định nghĩa cổng lắng nghe (80) và tên miền đón nhận lưu lượng ('myapp.local').</a:t>
            </a:r>
          </a:p>
          <a:p>
            <a:pPr>
              <a:spcAft>
                <a:spcPts val="600"/>
              </a:spcAft>
            </a:pPr>
            <a:r>
              <a:rPr b="1" sz="1350">
                <a:solidFill>
                  <a:srgbClr val="103672"/>
                </a:solidFill>
              </a:rPr>
              <a:t>• client_max_body_size:
</a:t>
            </a:r>
            <a:r>
              <a:rPr sz="1250">
                <a:solidFill>
                  <a:srgbClr val="0F172A"/>
                </a:solidFill>
              </a:rPr>
              <a:t>  Bảo vệ hệ thống trước các request payload quá lớn (mặc định 1 MB, kiểm soát tài nguyên RAM/Disk).</a:t>
            </a:r>
          </a:p>
          <a:p>
            <a:pPr>
              <a:spcAft>
                <a:spcPts val="600"/>
              </a:spcAft>
            </a:pPr>
            <a:r>
              <a:rPr b="1" sz="1350">
                <a:solidFill>
                  <a:srgbClr val="103672"/>
                </a:solidFill>
              </a:rPr>
              <a:t>• location /:
</a:t>
            </a:r>
            <a:r>
              <a:rPr sz="1250">
                <a:solidFill>
                  <a:srgbClr val="0F172A"/>
                </a:solidFill>
              </a:rPr>
              <a:t>  Phục vụ giao diện frontend tĩnh với cơ chế SPA fallback try_files.</a:t>
            </a:r>
          </a:p>
          <a:p>
            <a:pPr>
              <a:spcAft>
                <a:spcPts val="600"/>
              </a:spcAft>
            </a:pPr>
            <a:r>
              <a:rPr b="1" sz="1350">
                <a:solidFill>
                  <a:srgbClr val="103672"/>
                </a:solidFill>
              </a:rPr>
              <a:t>• location /api/:
</a:t>
            </a:r>
            <a:r>
              <a:rPr sz="1250">
                <a:solidFill>
                  <a:srgbClr val="0F172A"/>
                </a:solidFill>
              </a:rPr>
              <a:t>  Ủy quyền an toàn tới cụm upstream kèm các proxy header bảo toàn danh tính.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15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KIỂM SOÁT TÀI NGUYÊN &amp; DEMO</a:t>
            </a:r>
          </a:p>
          <a:p>
            <a:pPr>
              <a:defRPr sz="2500" b="1">
                <a:solidFill>
                  <a:srgbClr val="103672"/>
                </a:solidFill>
                <a:latin typeface="Segoe UI"/>
              </a:defRPr>
            </a:pPr>
            <a:r>
              <a:t>Giới hạn Request Body (Mã 413) &amp; Hot Reload Nạp nóng</a:t>
            </a:r>
          </a:p>
        </p:txBody>
      </p:sp>
      <p:sp>
        <p:nvSpPr>
          <p:cNvPr id="10" name="Rounded Rectangle 9"/>
          <p:cNvSpPr/>
          <p:nvPr/>
        </p:nvSpPr>
        <p:spPr>
          <a:xfrm>
            <a:off x="731520" y="2057400"/>
            <a:ext cx="5120640"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Chỉ thị client_max_body_size</a:t>
            </a:r>
          </a:p>
        </p:txBody>
      </p:sp>
      <p:sp>
        <p:nvSpPr>
          <p:cNvPr id="12" name="TextBox 11"/>
          <p:cNvSpPr txBox="1"/>
          <p:nvPr/>
        </p:nvSpPr>
        <p:spPr>
          <a:xfrm>
            <a:off x="960120" y="2560320"/>
            <a:ext cx="4663440" cy="1645920"/>
          </a:xfrm>
          <a:prstGeom prst="rect">
            <a:avLst/>
          </a:prstGeom>
          <a:noFill/>
        </p:spPr>
        <p:txBody>
          <a:bodyPr wrap="square">
            <a:spAutoFit/>
          </a:bodyPr>
          <a:lstStyle/>
          <a:p/>
          <a:p>
            <a:pPr>
              <a:spcAft>
                <a:spcPts val="500"/>
              </a:spcAft>
            </a:pPr>
            <a:r>
              <a:rPr b="1" sz="1350">
                <a:solidFill>
                  <a:srgbClr val="103672"/>
                </a:solidFill>
              </a:rPr>
              <a:t>• Mục đích cốt lõi: </a:t>
            </a:r>
            <a:r>
              <a:rPr sz="1300">
                <a:solidFill>
                  <a:srgbClr val="0F172A"/>
                </a:solidFill>
              </a:rPr>
              <a:t>Giới hạn dung lượng tối đa của Request Body do client gửi lên (upload file, payload JSON).</a:t>
            </a:r>
          </a:p>
          <a:p>
            <a:pPr>
              <a:spcAft>
                <a:spcPts val="500"/>
              </a:spcAft>
            </a:pPr>
            <a:r>
              <a:rPr b="1" sz="1350">
                <a:solidFill>
                  <a:srgbClr val="103672"/>
                </a:solidFill>
              </a:rPr>
              <a:t>• Giá trị mặc định: 1m </a:t>
            </a:r>
            <a:r>
              <a:rPr sz="1300">
                <a:solidFill>
                  <a:srgbClr val="0F172A"/>
                </a:solidFill>
              </a:rPr>
              <a:t>Nếu request vượt quá 1 MB, NGINX ngắt kết nối ngay lập tức và trả về mã lỗi 'HTTP 413 Payload Too Large'.</a:t>
            </a:r>
          </a:p>
          <a:p>
            <a:pPr>
              <a:spcAft>
                <a:spcPts val="500"/>
              </a:spcAft>
            </a:pPr>
            <a:r>
              <a:rPr b="1" sz="1350">
                <a:solidFill>
                  <a:srgbClr val="103672"/>
                </a:solidFill>
              </a:rPr>
              <a:t>• Kiểm soát tài nguyên: </a:t>
            </a:r>
            <a:r>
              <a:rPr sz="1300">
                <a:solidFill>
                  <a:srgbClr val="0F172A"/>
                </a:solidFill>
              </a:rPr>
              <a:t>Bảo vệ RAM và đĩa cứng máy chủ trước DoS payload lớn (không phải ngăn buffer overflow).</a:t>
            </a:r>
          </a:p>
        </p:txBody>
      </p:sp>
      <p:sp>
        <p:nvSpPr>
          <p:cNvPr id="13" name="Rounded Rectangle 12"/>
          <p:cNvSpPr/>
          <p:nvPr/>
        </p:nvSpPr>
        <p:spPr>
          <a:xfrm>
            <a:off x="6217920" y="2057400"/>
            <a:ext cx="5242255"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Quy trình Nạp nóng Cấu hình (Hot Reload)</a:t>
            </a:r>
          </a:p>
        </p:txBody>
      </p:sp>
      <p:sp>
        <p:nvSpPr>
          <p:cNvPr id="15" name="TextBox 14"/>
          <p:cNvSpPr txBox="1"/>
          <p:nvPr/>
        </p:nvSpPr>
        <p:spPr>
          <a:xfrm>
            <a:off x="6446520" y="2560320"/>
            <a:ext cx="4754880" cy="1645920"/>
          </a:xfrm>
          <a:prstGeom prst="rect">
            <a:avLst/>
          </a:prstGeom>
          <a:noFill/>
        </p:spPr>
        <p:txBody>
          <a:bodyPr wrap="square">
            <a:spAutoFit/>
          </a:bodyPr>
          <a:lstStyle/>
          <a:p/>
          <a:p>
            <a:pPr>
              <a:spcAft>
                <a:spcPts val="500"/>
              </a:spcAft>
            </a:pPr>
            <a:r>
              <a:rPr b="1" sz="1350">
                <a:solidFill>
                  <a:srgbClr val="16A34A"/>
                </a:solidFill>
              </a:rPr>
              <a:t>✔ 1. Sửa cấu hình: </a:t>
            </a:r>
            <a:r>
              <a:rPr sz="1300">
                <a:solidFill>
                  <a:srgbClr val="0F172A"/>
                </a:solidFill>
              </a:rPr>
              <a:t>Thêm 'client_max_body_size 20m;' vào server block hoặc location /api/upload.</a:t>
            </a:r>
          </a:p>
          <a:p>
            <a:pPr>
              <a:spcAft>
                <a:spcPts val="500"/>
              </a:spcAft>
            </a:pPr>
            <a:r>
              <a:rPr b="1" sz="1350">
                <a:solidFill>
                  <a:srgbClr val="16A34A"/>
                </a:solidFill>
              </a:rPr>
              <a:t>✔ 2. Kiểm tra cú pháp (Bắt buộc): </a:t>
            </a:r>
            <a:r>
              <a:rPr sz="1300">
                <a:solidFill>
                  <a:srgbClr val="0F172A"/>
                </a:solidFill>
              </a:rPr>
              <a:t>'docker compose exec proxy nginx -t' -&gt; Đảm bảo cú pháp test is successful.</a:t>
            </a:r>
          </a:p>
          <a:p>
            <a:pPr>
              <a:spcAft>
                <a:spcPts val="500"/>
              </a:spcAft>
            </a:pPr>
            <a:r>
              <a:rPr b="1" sz="1350">
                <a:solidFill>
                  <a:srgbClr val="16A34A"/>
                </a:solidFill>
              </a:rPr>
              <a:t>✔ 3. Nạp nóng không gián đoạn: </a:t>
            </a:r>
            <a:r>
              <a:rPr sz="1300">
                <a:solidFill>
                  <a:srgbClr val="0F172A"/>
                </a:solidFill>
              </a:rPr>
              <a:t>'nginx -s reload' -&gt; Master tạo worker mới nạp cấu hình mới; worker cũ phục vụ xong request rồi mới đóng an toàn.</a:t>
            </a:r>
          </a:p>
        </p:txBody>
      </p:sp>
      <p:sp>
        <p:nvSpPr>
          <p:cNvPr id="16" name="Rounded Rectangle 15"/>
          <p:cNvSpPr/>
          <p:nvPr/>
        </p:nvSpPr>
        <p:spPr>
          <a:xfrm>
            <a:off x="731520" y="4434840"/>
            <a:ext cx="10728655" cy="1755648"/>
          </a:xfrm>
          <a:prstGeom prst="roundRect">
            <a:avLst/>
          </a:prstGeom>
          <a:solidFill>
            <a:srgbClr val="F8FAFC"/>
          </a:solidFill>
          <a:ln w="19050">
            <a:solidFill>
              <a:srgbClr val="1C64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4434840"/>
            <a:ext cx="10728655" cy="329184"/>
          </a:xfrm>
          <a:prstGeom prst="rect">
            <a:avLst/>
          </a:prstGeom>
          <a:solidFill>
            <a:srgbClr val="1C64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489704"/>
            <a:ext cx="10362895" cy="219456"/>
          </a:xfrm>
          <a:prstGeom prst="rect">
            <a:avLst/>
          </a:prstGeom>
          <a:noFill/>
        </p:spPr>
        <p:txBody>
          <a:bodyPr wrap="none" lIns="0" tIns="0" rIns="0" bIns="0">
            <a:spAutoFit/>
          </a:bodyPr>
          <a:lstStyle/>
          <a:p>
            <a:pPr>
              <a:defRPr sz="1100" b="1">
                <a:solidFill>
                  <a:srgbClr val="FFFFFF"/>
                </a:solidFill>
                <a:latin typeface="Segoe UI"/>
              </a:defRPr>
            </a:pPr>
            <a:r>
              <a:t>KẾ HOẠCH DEMO ĐỀ XUẤT • BƯỚC 5: BẮT LỖI 413, NÂNG HẠN MỨC BODY &amp; NẠP NÓNG CẤU HÌNH</a:t>
            </a:r>
          </a:p>
        </p:txBody>
      </p:sp>
      <p:sp>
        <p:nvSpPr>
          <p:cNvPr id="19" name="TextBox 18"/>
          <p:cNvSpPr txBox="1"/>
          <p:nvPr/>
        </p:nvSpPr>
        <p:spPr>
          <a:xfrm>
            <a:off x="914400" y="4818888"/>
            <a:ext cx="10362895" cy="1335024"/>
          </a:xfrm>
          <a:prstGeom prst="rect">
            <a:avLst/>
          </a:prstGeom>
          <a:noFill/>
        </p:spPr>
        <p:txBody>
          <a:bodyPr wrap="square" lIns="0" tIns="0" rIns="0" bIns="0">
            <a:spAutoFit/>
          </a:bodyPr>
          <a:lstStyle/>
          <a:p>
            <a:pPr>
              <a:spcAft>
                <a:spcPts val="200"/>
              </a:spcAft>
            </a:pPr>
            <a:r>
              <a:rPr sz="1300" b="1">
                <a:solidFill>
                  <a:srgbClr val="103672"/>
                </a:solidFill>
                <a:latin typeface="Segoe UI"/>
              </a:rPr>
              <a:t>▶ Thao tác: </a:t>
            </a:r>
            <a:r>
              <a:rPr sz="1250">
                <a:solidFill>
                  <a:srgbClr val="0F172A"/>
                </a:solidFill>
                <a:latin typeface="Segoe UI"/>
              </a:rPr>
              <a:t>Gửi ảnh bìa 1.34 MB tới 'POST /api/products/1/image' khi NGINX ở cấu hình mặc định (1m). Quan sát lỗi 413. Nâng 'client_max_body_size 20m;', chạy 'nginx -t', reload và gửi lại.</a:t>
            </a:r>
          </a:p>
          <a:p>
            <a:pPr>
              <a:spcAft>
                <a:spcPts val="200"/>
              </a:spcAft>
            </a:pPr>
            <a:r>
              <a:rPr sz="1300" b="1">
                <a:solidFill>
                  <a:srgbClr val="16A34A"/>
                </a:solidFill>
                <a:latin typeface="Segoe UI"/>
              </a:rPr>
              <a:t>▶ Kết quả dự kiến: </a:t>
            </a:r>
            <a:r>
              <a:rPr sz="1250">
                <a:solidFill>
                  <a:srgbClr val="0F172A"/>
                </a:solidFill>
                <a:latin typeface="Segoe UI"/>
              </a:rPr>
              <a:t>Lần 1 nhận chính xác HTTP 413 Payload Too Large. Lần 2 sau khi reload cấu hình nóng, upload thành công nhận mã HTTP 200 OK và ảnh lưu vào uploads_data.</a:t>
            </a:r>
          </a:p>
          <a:p>
            <a:r>
              <a:rPr sz="1300" b="1">
                <a:solidFill>
                  <a:srgbClr val="1C64BA"/>
                </a:solidFill>
                <a:latin typeface="Segoe UI"/>
              </a:rPr>
              <a:t>▶ Khái niệm chứng minh: </a:t>
            </a:r>
            <a:r>
              <a:rPr sz="1250">
                <a:solidFill>
                  <a:srgbClr val="0F172A"/>
                </a:solidFill>
                <a:latin typeface="Segoe UI"/>
              </a:rPr>
              <a:t>Chứng minh tính năng kiểm soát dung lượng request của NGINX và khả năng nạp nóng cấu hình không làm gián đoạn dịch vụ (Zero-Downtime Reload).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16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MÔI TRƯỜNG PHÁT TRIỂN</a:t>
            </a:r>
          </a:p>
          <a:p>
            <a:pPr>
              <a:defRPr sz="2500" b="1">
                <a:solidFill>
                  <a:srgbClr val="103672"/>
                </a:solidFill>
                <a:latin typeface="Segoe UI"/>
              </a:defRPr>
            </a:pPr>
            <a:r>
              <a:t>Giả lập Domain Local với Hosts: Windows &amp; Linux</a:t>
            </a:r>
          </a:p>
        </p:txBody>
      </p:sp>
      <p:sp>
        <p:nvSpPr>
          <p:cNvPr id="10" name="Rounded Rectangle 9"/>
          <p:cNvSpPr/>
          <p:nvPr/>
        </p:nvSpPr>
        <p:spPr>
          <a:xfrm>
            <a:off x="731520" y="2057400"/>
            <a:ext cx="3332073"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2874873" cy="365760"/>
          </a:xfrm>
          <a:prstGeom prst="rect">
            <a:avLst/>
          </a:prstGeom>
          <a:noFill/>
        </p:spPr>
        <p:txBody>
          <a:bodyPr wrap="none" lIns="0" tIns="0" rIns="0" bIns="0">
            <a:spAutoFit/>
          </a:bodyPr>
          <a:lstStyle/>
          <a:p>
            <a:pPr>
              <a:defRPr sz="1600" b="1">
                <a:solidFill>
                  <a:srgbClr val="103672"/>
                </a:solidFill>
                <a:latin typeface="Segoe UI"/>
              </a:defRPr>
            </a:pPr>
            <a:r>
              <a:t>1. Trình duyệt Windows</a:t>
            </a:r>
          </a:p>
        </p:txBody>
      </p:sp>
      <p:sp>
        <p:nvSpPr>
          <p:cNvPr id="12" name="TextBox 11"/>
          <p:cNvSpPr txBox="1"/>
          <p:nvPr/>
        </p:nvSpPr>
        <p:spPr>
          <a:xfrm>
            <a:off x="868680" y="2606040"/>
            <a:ext cx="3057753" cy="3383280"/>
          </a:xfrm>
          <a:prstGeom prst="rect">
            <a:avLst/>
          </a:prstGeom>
          <a:noFill/>
        </p:spPr>
        <p:txBody>
          <a:bodyPr wrap="square">
            <a:spAutoFit/>
          </a:bodyPr>
          <a:lstStyle/>
          <a:p/>
          <a:p>
            <a:pPr>
              <a:spcAft>
                <a:spcPts val="700"/>
              </a:spcAft>
            </a:pPr>
            <a:r>
              <a:rPr b="1" sz="1400">
                <a:solidFill>
                  <a:srgbClr val="103672"/>
                </a:solidFill>
              </a:rPr>
              <a:t>• Đường dẫn Windows:
</a:t>
            </a:r>
            <a:r>
              <a:rPr sz="1300">
                <a:solidFill>
                  <a:srgbClr val="0F172A"/>
                </a:solidFill>
              </a:rPr>
              <a:t>  drivers\etc\hosts
(trong C:\Windows\System32)</a:t>
            </a:r>
          </a:p>
          <a:p>
            <a:pPr>
              <a:spcAft>
                <a:spcPts val="700"/>
              </a:spcAft>
            </a:pPr>
            <a:r>
              <a:rPr b="1" sz="1400">
                <a:solidFill>
                  <a:srgbClr val="103672"/>
                </a:solidFill>
              </a:rPr>
              <a:t>• Thao tác:
</a:t>
            </a:r>
            <a:r>
              <a:rPr sz="1300">
                <a:solidFill>
                  <a:srgbClr val="0F172A"/>
                </a:solidFill>
              </a:rPr>
              <a:t>  Mở Notepad bằng Run as Admin, thêm dòng:
'127.0.0.1  myapp.local'</a:t>
            </a:r>
          </a:p>
          <a:p>
            <a:pPr>
              <a:spcAft>
                <a:spcPts val="700"/>
              </a:spcAft>
            </a:pPr>
            <a:r>
              <a:rPr b="1" sz="1400">
                <a:solidFill>
                  <a:srgbClr val="103672"/>
                </a:solidFill>
              </a:rPr>
              <a:t>• Hiệu lực:
</a:t>
            </a:r>
            <a:r>
              <a:rPr sz="1300">
                <a:solidFill>
                  <a:srgbClr val="0F172A"/>
                </a:solidFill>
              </a:rPr>
              <a:t>  Trình duyệt (Chrome/Edge) trên Windows sẽ phân giải 'myapp.local' về máy.</a:t>
            </a:r>
          </a:p>
        </p:txBody>
      </p:sp>
      <p:sp>
        <p:nvSpPr>
          <p:cNvPr id="13" name="Rounded Rectangle 12"/>
          <p:cNvSpPr/>
          <p:nvPr/>
        </p:nvSpPr>
        <p:spPr>
          <a:xfrm>
            <a:off x="4429353" y="2057400"/>
            <a:ext cx="3332073"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7953" y="2221992"/>
            <a:ext cx="2874873" cy="365760"/>
          </a:xfrm>
          <a:prstGeom prst="rect">
            <a:avLst/>
          </a:prstGeom>
          <a:noFill/>
        </p:spPr>
        <p:txBody>
          <a:bodyPr wrap="none" lIns="0" tIns="0" rIns="0" bIns="0">
            <a:spAutoFit/>
          </a:bodyPr>
          <a:lstStyle/>
          <a:p>
            <a:pPr>
              <a:defRPr sz="1600" b="1">
                <a:solidFill>
                  <a:srgbClr val="103672"/>
                </a:solidFill>
                <a:latin typeface="Segoe UI"/>
              </a:defRPr>
            </a:pPr>
            <a:r>
              <a:t>2. WSL chạy Docker / NGINX</a:t>
            </a:r>
          </a:p>
        </p:txBody>
      </p:sp>
      <p:sp>
        <p:nvSpPr>
          <p:cNvPr id="15" name="TextBox 14"/>
          <p:cNvSpPr txBox="1"/>
          <p:nvPr/>
        </p:nvSpPr>
        <p:spPr>
          <a:xfrm>
            <a:off x="4566513" y="2606040"/>
            <a:ext cx="3057753" cy="3383280"/>
          </a:xfrm>
          <a:prstGeom prst="rect">
            <a:avLst/>
          </a:prstGeom>
          <a:noFill/>
        </p:spPr>
        <p:txBody>
          <a:bodyPr wrap="square">
            <a:spAutoFit/>
          </a:bodyPr>
          <a:lstStyle/>
          <a:p/>
          <a:p>
            <a:pPr>
              <a:spcAft>
                <a:spcPts val="700"/>
              </a:spcAft>
            </a:pPr>
            <a:r>
              <a:rPr b="1" sz="1400">
                <a:solidFill>
                  <a:srgbClr val="1C64BA"/>
                </a:solidFill>
              </a:rPr>
              <a:t>• Cơ chế ánh xạ:
</a:t>
            </a:r>
            <a:r>
              <a:rPr sz="1300">
                <a:solidFill>
                  <a:srgbClr val="0F172A"/>
                </a:solidFill>
              </a:rPr>
              <a:t>  WSL2 tự động forward cổng mạng sang Windows host qua kiến trúc mirrored / localhost binding.</a:t>
            </a:r>
          </a:p>
          <a:p>
            <a:pPr>
              <a:spcAft>
                <a:spcPts val="700"/>
              </a:spcAft>
            </a:pPr>
            <a:r>
              <a:rPr b="1" sz="1400">
                <a:solidFill>
                  <a:srgbClr val="1C64BA"/>
                </a:solidFill>
              </a:rPr>
              <a:t>• Lưu ý quan trọng:
</a:t>
            </a:r>
            <a:r>
              <a:rPr sz="1300">
                <a:solidFill>
                  <a:srgbClr val="0F172A"/>
                </a:solidFill>
              </a:rPr>
              <a:t>  Mở trình duyệt từ Windows thì BẮT BUỘC sửa hosts của Windows, sửa trong WSL không tác dụng với Chrome ngoài!</a:t>
            </a:r>
          </a:p>
          <a:p>
            <a:pPr>
              <a:spcAft>
                <a:spcPts val="700"/>
              </a:spcAft>
            </a:pPr>
            <a:r>
              <a:rPr b="1" sz="1400">
                <a:solidFill>
                  <a:srgbClr val="1C64BA"/>
                </a:solidFill>
              </a:rPr>
              <a:t>• Địa chỉ truy cập:
</a:t>
            </a:r>
            <a:r>
              <a:rPr sz="1300">
                <a:solidFill>
                  <a:srgbClr val="0F172A"/>
                </a:solidFill>
              </a:rPr>
              <a:t>  'http://myapp.local:8080/'</a:t>
            </a:r>
          </a:p>
        </p:txBody>
      </p:sp>
      <p:sp>
        <p:nvSpPr>
          <p:cNvPr id="16" name="Rounded Rectangle 15"/>
          <p:cNvSpPr/>
          <p:nvPr/>
        </p:nvSpPr>
        <p:spPr>
          <a:xfrm>
            <a:off x="8127186" y="2057400"/>
            <a:ext cx="3332073"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5786" y="2221992"/>
            <a:ext cx="2874873" cy="365760"/>
          </a:xfrm>
          <a:prstGeom prst="rect">
            <a:avLst/>
          </a:prstGeom>
          <a:noFill/>
        </p:spPr>
        <p:txBody>
          <a:bodyPr wrap="none" lIns="0" tIns="0" rIns="0" bIns="0">
            <a:spAutoFit/>
          </a:bodyPr>
          <a:lstStyle/>
          <a:p>
            <a:pPr>
              <a:defRPr sz="1600" b="1">
                <a:solidFill>
                  <a:srgbClr val="103672"/>
                </a:solidFill>
                <a:latin typeface="Segoe UI"/>
              </a:defRPr>
            </a:pPr>
            <a:r>
              <a:t>3. Linux / WSL Client</a:t>
            </a:r>
          </a:p>
        </p:txBody>
      </p:sp>
      <p:sp>
        <p:nvSpPr>
          <p:cNvPr id="18" name="TextBox 17"/>
          <p:cNvSpPr txBox="1"/>
          <p:nvPr/>
        </p:nvSpPr>
        <p:spPr>
          <a:xfrm>
            <a:off x="8264346" y="2606040"/>
            <a:ext cx="3057753" cy="3383280"/>
          </a:xfrm>
          <a:prstGeom prst="rect">
            <a:avLst/>
          </a:prstGeom>
          <a:noFill/>
        </p:spPr>
        <p:txBody>
          <a:bodyPr wrap="square">
            <a:spAutoFit/>
          </a:bodyPr>
          <a:lstStyle/>
          <a:p/>
          <a:p>
            <a:pPr>
              <a:spcAft>
                <a:spcPts val="700"/>
              </a:spcAft>
            </a:pPr>
            <a:r>
              <a:rPr b="1" sz="1400">
                <a:solidFill>
                  <a:srgbClr val="0284C7"/>
                </a:solidFill>
              </a:rPr>
              <a:t>• Đường dẫn Linux:
</a:t>
            </a:r>
            <a:r>
              <a:rPr sz="1300">
                <a:solidFill>
                  <a:srgbClr val="0F172A"/>
                </a:solidFill>
              </a:rPr>
              <a:t>  '/etc/hosts'</a:t>
            </a:r>
          </a:p>
          <a:p>
            <a:pPr>
              <a:spcAft>
                <a:spcPts val="700"/>
              </a:spcAft>
            </a:pPr>
            <a:r>
              <a:rPr b="1" sz="1400">
                <a:solidFill>
                  <a:srgbClr val="0284C7"/>
                </a:solidFill>
              </a:rPr>
              <a:t>• Lệnh cập nhật nhanh:
</a:t>
            </a:r>
            <a:r>
              <a:rPr sz="1300">
                <a:solidFill>
                  <a:srgbClr val="0F172A"/>
                </a:solidFill>
              </a:rPr>
              <a:t>  'echo "127.0.0.1 myapp.local" | sudo tee -a /etc/hosts'</a:t>
            </a:r>
          </a:p>
          <a:p>
            <a:pPr>
              <a:spcAft>
                <a:spcPts val="700"/>
              </a:spcAft>
            </a:pPr>
            <a:r>
              <a:rPr b="1" sz="1400">
                <a:solidFill>
                  <a:srgbClr val="0284C7"/>
                </a:solidFill>
              </a:rPr>
              <a:t>• Kiểm tra với curl:
</a:t>
            </a:r>
            <a:r>
              <a:rPr sz="1300">
                <a:solidFill>
                  <a:srgbClr val="0F172A"/>
                </a:solidFill>
              </a:rPr>
              <a:t>  Gọi thử API qua domain local:
'curl -I http://myapp.local:8080/api/info'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17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BẢO MẬT KẾT NỐI &amp; DEMO</a:t>
            </a:r>
          </a:p>
          <a:p>
            <a:pPr>
              <a:defRPr sz="2500" b="1">
                <a:solidFill>
                  <a:srgbClr val="103672"/>
                </a:solidFill>
                <a:latin typeface="Segoe UI"/>
              </a:defRPr>
            </a:pPr>
            <a:r>
              <a:t>Cấu hình HTTPS với SSL Tự ký (SAN) &amp; Demo Bước 6</a:t>
            </a:r>
          </a:p>
        </p:txBody>
      </p:sp>
      <p:sp>
        <p:nvSpPr>
          <p:cNvPr id="10" name="Rounded Rectangle 9"/>
          <p:cNvSpPr/>
          <p:nvPr/>
        </p:nvSpPr>
        <p:spPr>
          <a:xfrm>
            <a:off x="731520" y="2057400"/>
            <a:ext cx="5303520" cy="2240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057400"/>
            <a:ext cx="5303520" cy="320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12264"/>
            <a:ext cx="4937760" cy="219456"/>
          </a:xfrm>
          <a:prstGeom prst="rect">
            <a:avLst/>
          </a:prstGeom>
          <a:noFill/>
        </p:spPr>
        <p:txBody>
          <a:bodyPr wrap="none" lIns="0" tIns="0" rIns="0" bIns="0">
            <a:spAutoFit/>
          </a:bodyPr>
          <a:lstStyle/>
          <a:p>
            <a:pPr>
              <a:defRPr sz="1050" b="1">
                <a:solidFill>
                  <a:srgbClr val="94A3B8"/>
                </a:solidFill>
                <a:latin typeface="Consolas"/>
              </a:defRPr>
            </a:pPr>
            <a:r>
              <a:t>Lệnh OpenSSL &amp; Cấu hình HTTPS</a:t>
            </a:r>
          </a:p>
        </p:txBody>
      </p:sp>
      <p:sp>
        <p:nvSpPr>
          <p:cNvPr id="13" name="TextBox 12"/>
          <p:cNvSpPr txBox="1"/>
          <p:nvPr/>
        </p:nvSpPr>
        <p:spPr>
          <a:xfrm>
            <a:off x="960120" y="2441448"/>
            <a:ext cx="4846320" cy="1801368"/>
          </a:xfrm>
          <a:prstGeom prst="rect">
            <a:avLst/>
          </a:prstGeom>
          <a:noFill/>
        </p:spPr>
        <p:txBody>
          <a:bodyPr wrap="square" lIns="0" tIns="0" rIns="0" bIns="0">
            <a:spAutoFit/>
          </a:bodyPr>
          <a:lstStyle/>
          <a:p>
            <a:pPr>
              <a:spcAft>
                <a:spcPts val="50"/>
              </a:spcAft>
              <a:defRPr sz="1050">
                <a:solidFill>
                  <a:srgbClr val="94A3B8"/>
                </a:solidFill>
                <a:latin typeface="Consolas"/>
              </a:defRPr>
            </a:pPr>
            <a:r>
              <a:t># Sinh cert tu ky co SAN bang OpenSSL:</a:t>
            </a:r>
          </a:p>
          <a:p>
            <a:pPr>
              <a:spcAft>
                <a:spcPts val="50"/>
              </a:spcAft>
              <a:defRPr sz="1050">
                <a:solidFill>
                  <a:srgbClr val="F1F5F9"/>
                </a:solidFill>
                <a:latin typeface="Consolas"/>
              </a:defRPr>
            </a:pPr>
            <a:r>
              <a:t>openssl req -x509 -newkey rsa:2048 -nodes -days 365 \</a:t>
            </a:r>
          </a:p>
          <a:p>
            <a:pPr>
              <a:spcAft>
                <a:spcPts val="50"/>
              </a:spcAft>
              <a:defRPr sz="1050">
                <a:solidFill>
                  <a:srgbClr val="F1F5F9"/>
                </a:solidFill>
                <a:latin typeface="Consolas"/>
              </a:defRPr>
            </a:pPr>
            <a:r>
              <a:t>  -keyout myapp.key -out myapp.crt -subj '/CN=myapp.local' \</a:t>
            </a:r>
          </a:p>
          <a:p>
            <a:pPr>
              <a:spcAft>
                <a:spcPts val="50"/>
              </a:spcAft>
              <a:defRPr sz="1050">
                <a:solidFill>
                  <a:srgbClr val="F1F5F9"/>
                </a:solidFill>
                <a:latin typeface="Consolas"/>
              </a:defRPr>
            </a:pPr>
            <a:r>
              <a:t>  -addext 'subjectAltName=DNS:myapp.local'</a:t>
            </a:r>
          </a:p>
          <a:p>
            <a:pPr>
              <a:spcAft>
                <a:spcPts val="50"/>
              </a:spcAft>
              <a:defRPr sz="1050">
                <a:solidFill>
                  <a:srgbClr val="F1F5F9"/>
                </a:solidFill>
                <a:latin typeface="Consolas"/>
              </a:defRPr>
            </a:pPr>
          </a:p>
          <a:p>
            <a:pPr>
              <a:spcAft>
                <a:spcPts val="50"/>
              </a:spcAft>
              <a:defRPr sz="1050">
                <a:solidFill>
                  <a:srgbClr val="94A3B8"/>
                </a:solidFill>
                <a:latin typeface="Consolas"/>
              </a:defRPr>
            </a:pPr>
            <a:r>
              <a:t># Cau hinh NGINX lang nghe SSL 443:</a:t>
            </a:r>
          </a:p>
          <a:p>
            <a:pPr>
              <a:spcAft>
                <a:spcPts val="50"/>
              </a:spcAft>
              <a:defRPr sz="1050" b="1">
                <a:solidFill>
                  <a:srgbClr val="38BDF8"/>
                </a:solidFill>
                <a:latin typeface="Consolas"/>
              </a:defRPr>
            </a:pPr>
            <a:r>
              <a:t>listen 443 ssl;</a:t>
            </a:r>
          </a:p>
          <a:p>
            <a:pPr>
              <a:spcAft>
                <a:spcPts val="50"/>
              </a:spcAft>
              <a:defRPr sz="1050">
                <a:solidFill>
                  <a:srgbClr val="F1F5F9"/>
                </a:solidFill>
                <a:latin typeface="Consolas"/>
              </a:defRPr>
            </a:pPr>
            <a:r>
              <a:t>ssl_certificate     /etc/nginx/certs/myapp.crt;</a:t>
            </a:r>
          </a:p>
          <a:p>
            <a:pPr>
              <a:spcAft>
                <a:spcPts val="50"/>
              </a:spcAft>
              <a:defRPr sz="1050">
                <a:solidFill>
                  <a:srgbClr val="F1F5F9"/>
                </a:solidFill>
                <a:latin typeface="Consolas"/>
              </a:defRPr>
            </a:pPr>
            <a:r>
              <a:t>ssl_certificate_key /etc/nginx/certs/myapp.key;</a:t>
            </a:r>
          </a:p>
        </p:txBody>
      </p:sp>
      <p:sp>
        <p:nvSpPr>
          <p:cNvPr id="14" name="Rounded Rectangle 13"/>
          <p:cNvSpPr/>
          <p:nvPr/>
        </p:nvSpPr>
        <p:spPr>
          <a:xfrm>
            <a:off x="6400800" y="2057400"/>
            <a:ext cx="5059375"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2221992"/>
            <a:ext cx="4602175" cy="365760"/>
          </a:xfrm>
          <a:prstGeom prst="rect">
            <a:avLst/>
          </a:prstGeom>
          <a:noFill/>
        </p:spPr>
        <p:txBody>
          <a:bodyPr wrap="none" lIns="0" tIns="0" rIns="0" bIns="0">
            <a:spAutoFit/>
          </a:bodyPr>
          <a:lstStyle/>
          <a:p>
            <a:pPr>
              <a:defRPr sz="1600" b="1">
                <a:solidFill>
                  <a:srgbClr val="103672"/>
                </a:solidFill>
                <a:latin typeface="Segoe UI"/>
              </a:defRPr>
            </a:pPr>
            <a:r>
              <a:t>Tại sao Trình duyệt Cảnh báo Bảo mật?</a:t>
            </a:r>
          </a:p>
        </p:txBody>
      </p:sp>
      <p:sp>
        <p:nvSpPr>
          <p:cNvPr id="16" name="TextBox 15"/>
          <p:cNvSpPr txBox="1"/>
          <p:nvPr/>
        </p:nvSpPr>
        <p:spPr>
          <a:xfrm>
            <a:off x="6583680" y="2560320"/>
            <a:ext cx="4663440" cy="1645920"/>
          </a:xfrm>
          <a:prstGeom prst="rect">
            <a:avLst/>
          </a:prstGeom>
          <a:noFill/>
        </p:spPr>
        <p:txBody>
          <a:bodyPr wrap="square">
            <a:spAutoFit/>
          </a:bodyPr>
          <a:lstStyle/>
          <a:p/>
          <a:p>
            <a:pPr>
              <a:spcAft>
                <a:spcPts val="500"/>
              </a:spcAft>
            </a:pPr>
            <a:r>
              <a:rPr b="1" sz="1350">
                <a:solidFill>
                  <a:srgbClr val="103672"/>
                </a:solidFill>
              </a:rPr>
              <a:t>• Mã hóa đường truyền: </a:t>
            </a:r>
            <a:r>
              <a:rPr sz="1300">
                <a:solidFill>
                  <a:srgbClr val="0F172A"/>
                </a:solidFill>
              </a:rPr>
              <a:t>Kênh truyền được mã hóa TLS mạnh mẽ, chống nghe lén dữ liệu trên đường truyền.</a:t>
            </a:r>
          </a:p>
          <a:p>
            <a:pPr>
              <a:spcAft>
                <a:spcPts val="500"/>
              </a:spcAft>
            </a:pPr>
            <a:r>
              <a:rPr b="1" sz="1350">
                <a:solidFill>
                  <a:srgbClr val="103672"/>
                </a:solidFill>
              </a:rPr>
              <a:t>• Thiếu xác thực danh tính: </a:t>
            </a:r>
            <a:r>
              <a:rPr sz="1300">
                <a:solidFill>
                  <a:srgbClr val="0F172A"/>
                </a:solidFill>
              </a:rPr>
              <a:t>Do chứng chỉ tự ký không có Root CA công cộng bảo lãnh -&gt; Trình duyệt hiện cảnh báo bảo mật.</a:t>
            </a:r>
          </a:p>
          <a:p>
            <a:pPr>
              <a:spcAft>
                <a:spcPts val="500"/>
              </a:spcAft>
            </a:pPr>
            <a:r>
              <a:rPr b="1" sz="1350">
                <a:solidFill>
                  <a:srgbClr val="103672"/>
                </a:solidFill>
              </a:rPr>
              <a:t>• Lưu ý nút bỏ qua: </a:t>
            </a:r>
            <a:r>
              <a:rPr sz="1300">
                <a:solidFill>
                  <a:srgbClr val="0F172A"/>
                </a:solidFill>
              </a:rPr>
              <a:t>Tùy chính sách bảo mật hoặc HSTS, nút bỏ qua có thể không xuất hiện (cần gõ 'thisisunsafe').</a:t>
            </a:r>
          </a:p>
        </p:txBody>
      </p:sp>
      <p:sp>
        <p:nvSpPr>
          <p:cNvPr id="17" name="Rounded Rectangle 16"/>
          <p:cNvSpPr/>
          <p:nvPr/>
        </p:nvSpPr>
        <p:spPr>
          <a:xfrm>
            <a:off x="731520" y="4434840"/>
            <a:ext cx="10728655" cy="1755648"/>
          </a:xfrm>
          <a:prstGeom prst="roundRect">
            <a:avLst/>
          </a:prstGeom>
          <a:solidFill>
            <a:srgbClr val="F8FAFC"/>
          </a:solidFill>
          <a:ln w="19050">
            <a:solidFill>
              <a:srgbClr val="1C64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434840"/>
            <a:ext cx="10728655" cy="329184"/>
          </a:xfrm>
          <a:prstGeom prst="rect">
            <a:avLst/>
          </a:prstGeom>
          <a:solidFill>
            <a:srgbClr val="1C64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489704"/>
            <a:ext cx="10362895" cy="219456"/>
          </a:xfrm>
          <a:prstGeom prst="rect">
            <a:avLst/>
          </a:prstGeom>
          <a:noFill/>
        </p:spPr>
        <p:txBody>
          <a:bodyPr wrap="none" lIns="0" tIns="0" rIns="0" bIns="0">
            <a:spAutoFit/>
          </a:bodyPr>
          <a:lstStyle/>
          <a:p>
            <a:pPr>
              <a:defRPr sz="1100" b="1">
                <a:solidFill>
                  <a:srgbClr val="FFFFFF"/>
                </a:solidFill>
                <a:latin typeface="Segoe UI"/>
              </a:defRPr>
            </a:pPr>
            <a:r>
              <a:t>KẾ HOẠCH DEMO ĐỀ XUẤT • BƯỚC 6: GIẢ LẬP DOMAIN LOCAL &amp; CẤU HÌNH HTTPS TỰ KÝ</a:t>
            </a:r>
          </a:p>
        </p:txBody>
      </p:sp>
      <p:sp>
        <p:nvSpPr>
          <p:cNvPr id="20" name="TextBox 19"/>
          <p:cNvSpPr txBox="1"/>
          <p:nvPr/>
        </p:nvSpPr>
        <p:spPr>
          <a:xfrm>
            <a:off x="914400" y="4818888"/>
            <a:ext cx="10362895" cy="1335024"/>
          </a:xfrm>
          <a:prstGeom prst="rect">
            <a:avLst/>
          </a:prstGeom>
          <a:noFill/>
        </p:spPr>
        <p:txBody>
          <a:bodyPr wrap="square" lIns="0" tIns="0" rIns="0" bIns="0">
            <a:spAutoFit/>
          </a:bodyPr>
          <a:lstStyle/>
          <a:p>
            <a:pPr>
              <a:spcAft>
                <a:spcPts val="200"/>
              </a:spcAft>
            </a:pPr>
            <a:r>
              <a:rPr sz="1300" b="1">
                <a:solidFill>
                  <a:srgbClr val="103672"/>
                </a:solidFill>
                <a:latin typeface="Segoe UI"/>
              </a:rPr>
              <a:t>▶ Thao tác: </a:t>
            </a:r>
            <a:r>
              <a:rPr sz="1250">
                <a:solidFill>
                  <a:srgbClr val="0F172A"/>
                </a:solidFill>
                <a:latin typeface="Segoe UI"/>
              </a:rPr>
              <a:t>Ánh xạ hosts '127.0.0.1 myapp.local', sinh cặp key/cert tự ký có SAN bằng OpenSSL, nạp cấu hình NGINX 'listen 443 ssl' và mở 'https://myapp.local:8443'.</a:t>
            </a:r>
          </a:p>
          <a:p>
            <a:pPr>
              <a:spcAft>
                <a:spcPts val="200"/>
              </a:spcAft>
            </a:pPr>
            <a:r>
              <a:rPr sz="1300" b="1">
                <a:solidFill>
                  <a:srgbClr val="16A34A"/>
                </a:solidFill>
                <a:latin typeface="Segoe UI"/>
              </a:rPr>
              <a:t>▶ Kết quả dự kiến: </a:t>
            </a:r>
            <a:r>
              <a:rPr sz="1250">
                <a:solidFill>
                  <a:srgbClr val="0F172A"/>
                </a:solidFill>
                <a:latin typeface="Segoe UI"/>
              </a:rPr>
              <a:t>Trình duyệt hiển thị cảnh báo đỏ 'Not Secure / NET::ERR_CERT_AUTHORITY_INVALID'. Khi chọn tiếp tục truy cập, trang web tải thành công với giao thức HTTPS được mã hóa.</a:t>
            </a:r>
          </a:p>
          <a:p>
            <a:r>
              <a:rPr sz="1300" b="1">
                <a:solidFill>
                  <a:srgbClr val="1C64BA"/>
                </a:solidFill>
                <a:latin typeface="Segoe UI"/>
              </a:rPr>
              <a:t>▶ Khái niệm chứng minh: </a:t>
            </a:r>
            <a:r>
              <a:rPr sz="1250">
                <a:solidFill>
                  <a:srgbClr val="0F172A"/>
                </a:solidFill>
                <a:latin typeface="Segoe UI"/>
              </a:rPr>
              <a:t>Chứng minh cơ chế SSL/TLS Termination tại NGINX và giải thích nguyên nhân chứng chỉ tự ký bị trình duyệt cảnh báo.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18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TIÊU CHUẨN BẢO MẬT</a:t>
            </a:r>
          </a:p>
          <a:p>
            <a:pPr>
              <a:defRPr sz="2500" b="1">
                <a:solidFill>
                  <a:srgbClr val="103672"/>
                </a:solidFill>
                <a:latin typeface="Segoe UI"/>
              </a:defRPr>
            </a:pPr>
            <a:r>
              <a:t>Chuỗi Tin cậy Chứng chỉ (Chain of Trust) &amp; Certbot</a:t>
            </a:r>
          </a:p>
        </p:txBody>
      </p:sp>
      <p:sp>
        <p:nvSpPr>
          <p:cNvPr id="10" name="Rounded Rectangle 9"/>
          <p:cNvSpPr/>
          <p:nvPr/>
        </p:nvSpPr>
        <p:spPr>
          <a:xfrm>
            <a:off x="731520" y="2057400"/>
            <a:ext cx="512064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Mô hình Chuỗi Tin cậy (Chain of Trust)</a:t>
            </a:r>
          </a:p>
        </p:txBody>
      </p:sp>
      <p:sp>
        <p:nvSpPr>
          <p:cNvPr id="12" name="Rounded Rectangle 11"/>
          <p:cNvSpPr/>
          <p:nvPr/>
        </p:nvSpPr>
        <p:spPr>
          <a:xfrm>
            <a:off x="960120" y="2560320"/>
            <a:ext cx="4663440" cy="77724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615184"/>
            <a:ext cx="4480560" cy="658368"/>
          </a:xfrm>
          <a:prstGeom prst="rect">
            <a:avLst/>
          </a:prstGeom>
          <a:noFill/>
        </p:spPr>
        <p:txBody>
          <a:bodyPr wrap="square">
            <a:spAutoFit/>
          </a:bodyPr>
          <a:lstStyle/>
          <a:p>
            <a:pPr algn="ctr">
              <a:defRPr sz="1300" b="1">
                <a:solidFill>
                  <a:srgbClr val="16A34A"/>
                </a:solidFill>
                <a:latin typeface="Segoe UI"/>
              </a:defRPr>
            </a:pPr>
            <a:r>
              <a:t>Root CA (Tổ chức Chứng thực Gốc)</a:t>
            </a:r>
            <a:br/>
            <a:r>
              <a:t>Nằm sẵn trong Trust Store của HĐH / Trình duyệt (vd: DigiCert, ISRG)</a:t>
            </a:r>
          </a:p>
        </p:txBody>
      </p:sp>
      <p:sp>
        <p:nvSpPr>
          <p:cNvPr id="14" name="Down Arrow 13"/>
          <p:cNvSpPr/>
          <p:nvPr/>
        </p:nvSpPr>
        <p:spPr>
          <a:xfrm>
            <a:off x="3108960" y="3429000"/>
            <a:ext cx="365760" cy="320040"/>
          </a:xfrm>
          <a:prstGeom prst="downArrow">
            <a:avLst/>
          </a:prstGeom>
          <a:solidFill>
            <a:srgbClr val="1C64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0120" y="3840480"/>
            <a:ext cx="4663440" cy="777240"/>
          </a:xfrm>
          <a:prstGeom prst="roundRect">
            <a:avLst/>
          </a:prstGeom>
          <a:solidFill>
            <a:srgbClr val="EEF2FF"/>
          </a:solidFill>
          <a:ln w="19050">
            <a:solidFill>
              <a:srgbClr val="1C64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895344"/>
            <a:ext cx="4480560" cy="658368"/>
          </a:xfrm>
          <a:prstGeom prst="rect">
            <a:avLst/>
          </a:prstGeom>
          <a:noFill/>
        </p:spPr>
        <p:txBody>
          <a:bodyPr wrap="square">
            <a:spAutoFit/>
          </a:bodyPr>
          <a:lstStyle/>
          <a:p>
            <a:pPr algn="ctr">
              <a:defRPr sz="1300" b="1">
                <a:solidFill>
                  <a:srgbClr val="1C64BA"/>
                </a:solidFill>
                <a:latin typeface="Segoe UI"/>
              </a:defRPr>
            </a:pPr>
            <a:r>
              <a:t>Intermediate CA (Cơ quan Trung gian)</a:t>
            </a:r>
            <a:br/>
            <a:r>
              <a:t>Được Root CA ký số ủy quyền để cấp chứng chỉ cho người dùng cuối</a:t>
            </a:r>
          </a:p>
        </p:txBody>
      </p:sp>
      <p:sp>
        <p:nvSpPr>
          <p:cNvPr id="17" name="Down Arrow 16"/>
          <p:cNvSpPr/>
          <p:nvPr/>
        </p:nvSpPr>
        <p:spPr>
          <a:xfrm>
            <a:off x="3108960" y="4709160"/>
            <a:ext cx="365760" cy="320040"/>
          </a:xfrm>
          <a:prstGeom prst="downArrow">
            <a:avLst/>
          </a:prstGeom>
          <a:solidFill>
            <a:srgbClr val="1C64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0120" y="5120640"/>
            <a:ext cx="4663440" cy="777240"/>
          </a:xfrm>
          <a:prstGeom prst="roundRect">
            <a:avLst/>
          </a:prstGeom>
          <a:solidFill>
            <a:srgbClr val="F8FAFC"/>
          </a:solidFill>
          <a:ln w="19050">
            <a:solidFill>
              <a:srgbClr val="1036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175504"/>
            <a:ext cx="4480560" cy="658368"/>
          </a:xfrm>
          <a:prstGeom prst="rect">
            <a:avLst/>
          </a:prstGeom>
          <a:noFill/>
        </p:spPr>
        <p:txBody>
          <a:bodyPr wrap="square">
            <a:spAutoFit/>
          </a:bodyPr>
          <a:lstStyle/>
          <a:p>
            <a:pPr algn="ctr">
              <a:defRPr sz="1300" b="1">
                <a:solidFill>
                  <a:srgbClr val="103672"/>
                </a:solidFill>
                <a:latin typeface="Segoe UI"/>
              </a:defRPr>
            </a:pPr>
            <a:r>
              <a:t>Server Certificate (Website của bạn)</a:t>
            </a:r>
            <a:br/>
            <a:r>
              <a:t>Cấp cho domain công khai -&gt; Trình duyệt xác thực hợp lệ không cảnh báo!</a:t>
            </a:r>
          </a:p>
        </p:txBody>
      </p:sp>
      <p:sp>
        <p:nvSpPr>
          <p:cNvPr id="20" name="Rounded Rectangle 19"/>
          <p:cNvSpPr/>
          <p:nvPr/>
        </p:nvSpPr>
        <p:spPr>
          <a:xfrm>
            <a:off x="6217920" y="2057400"/>
            <a:ext cx="5242255"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Triển khai Thực tế: Let's Encrypt &amp; Certbot</a:t>
            </a:r>
          </a:p>
        </p:txBody>
      </p:sp>
      <p:sp>
        <p:nvSpPr>
          <p:cNvPr id="22" name="TextBox 21"/>
          <p:cNvSpPr txBox="1"/>
          <p:nvPr/>
        </p:nvSpPr>
        <p:spPr>
          <a:xfrm>
            <a:off x="6446520" y="2606040"/>
            <a:ext cx="4754880" cy="3383280"/>
          </a:xfrm>
          <a:prstGeom prst="rect">
            <a:avLst/>
          </a:prstGeom>
          <a:noFill/>
        </p:spPr>
        <p:txBody>
          <a:bodyPr wrap="square">
            <a:spAutoFit/>
          </a:bodyPr>
          <a:lstStyle/>
          <a:p/>
          <a:p>
            <a:pPr>
              <a:spcAft>
                <a:spcPts val="800"/>
              </a:spcAft>
            </a:pPr>
            <a:r>
              <a:rPr b="1" sz="1400">
                <a:solidFill>
                  <a:srgbClr val="16A34A"/>
                </a:solidFill>
              </a:rPr>
              <a:t>✔ Tổ chức CA Công cộng Let's Encrypt:
</a:t>
            </a:r>
            <a:r>
              <a:rPr sz="1300">
                <a:solidFill>
                  <a:srgbClr val="0F172A"/>
                </a:solidFill>
              </a:rPr>
              <a:t>  Cung cấp chứng chỉ SSL/TLS miễn phí, được công nhận bởi toàn bộ hệ điều hành và trình duyệt trên thế giới.</a:t>
            </a:r>
          </a:p>
          <a:p>
            <a:pPr>
              <a:spcAft>
                <a:spcPts val="800"/>
              </a:spcAft>
            </a:pPr>
            <a:r>
              <a:rPr b="1" sz="1400">
                <a:solidFill>
                  <a:srgbClr val="16A34A"/>
                </a:solidFill>
              </a:rPr>
              <a:t>✔ Yêu cầu Domain Công khai:
</a:t>
            </a:r>
            <a:r>
              <a:rPr sz="1300">
                <a:solidFill>
                  <a:srgbClr val="0F172A"/>
                </a:solidFill>
              </a:rPr>
              <a:t>  Chỉ áp dụng cho tên miền công khai có quyền sở hữu DNS (vd: 'huce.edu.vn', 'example.com'). KHÔNG THỂ cấp cho tên miền nội bộ '.local'.</a:t>
            </a:r>
          </a:p>
          <a:p>
            <a:pPr>
              <a:spcAft>
                <a:spcPts val="800"/>
              </a:spcAft>
            </a:pPr>
            <a:r>
              <a:rPr b="1" sz="1400">
                <a:solidFill>
                  <a:srgbClr val="16A34A"/>
                </a:solidFill>
              </a:rPr>
              <a:t>✔ Công cụ Certbot &amp; Tự động Gia hạn:
</a:t>
            </a:r>
            <a:r>
              <a:rPr sz="1300">
                <a:solidFill>
                  <a:srgbClr val="0F172A"/>
                </a:solidFill>
              </a:rPr>
              <a:t>  Xác thực quyền kiểm soát domain qua HTTP-01 challenge (cổng 80) hoặc DNS-01. Chứng chỉ Let's Encrypt có hạn 90 ngày (khuyến nghị renew sau 60 ngày), Certbot chạy cron tự động gia hạn ngầm.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19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ĐIỀU HÀNH &amp; GIÁM SÁT</a:t>
            </a:r>
          </a:p>
          <a:p>
            <a:pPr>
              <a:defRPr sz="2500" b="1">
                <a:solidFill>
                  <a:srgbClr val="103672"/>
                </a:solidFill>
                <a:latin typeface="Segoe UI"/>
              </a:defRPr>
            </a:pPr>
            <a:r>
              <a:t>Kỹ năng Điều tra &amp; Xử lý Sự cố trong Vận hành NGINX</a:t>
            </a:r>
          </a:p>
        </p:txBody>
      </p:sp>
      <p:sp>
        <p:nvSpPr>
          <p:cNvPr id="10" name="Rounded Rectangle 9"/>
          <p:cNvSpPr/>
          <p:nvPr/>
        </p:nvSpPr>
        <p:spPr>
          <a:xfrm>
            <a:off x="731520" y="2057400"/>
            <a:ext cx="10728655" cy="16916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10271455" cy="365760"/>
          </a:xfrm>
          <a:prstGeom prst="rect">
            <a:avLst/>
          </a:prstGeom>
          <a:noFill/>
        </p:spPr>
        <p:txBody>
          <a:bodyPr wrap="none" lIns="0" tIns="0" rIns="0" bIns="0">
            <a:spAutoFit/>
          </a:bodyPr>
          <a:lstStyle/>
          <a:p>
            <a:pPr>
              <a:defRPr sz="1600" b="1">
                <a:solidFill>
                  <a:srgbClr val="103672"/>
                </a:solidFill>
                <a:latin typeface="Segoe UI"/>
              </a:defRPr>
            </a:pPr>
            <a:r>
              <a:t>Quy tắc Vàng &amp; Công cụ Điều tra Sự cố</a:t>
            </a:r>
          </a:p>
        </p:txBody>
      </p:sp>
      <p:sp>
        <p:nvSpPr>
          <p:cNvPr id="12" name="TextBox 11"/>
          <p:cNvSpPr txBox="1"/>
          <p:nvPr/>
        </p:nvSpPr>
        <p:spPr>
          <a:xfrm>
            <a:off x="960120" y="2560320"/>
            <a:ext cx="10241280" cy="1097280"/>
          </a:xfrm>
          <a:prstGeom prst="rect">
            <a:avLst/>
          </a:prstGeom>
          <a:noFill/>
        </p:spPr>
        <p:txBody>
          <a:bodyPr wrap="square">
            <a:spAutoFit/>
          </a:bodyPr>
          <a:lstStyle/>
          <a:p/>
          <a:p>
            <a:pPr>
              <a:spcAft>
                <a:spcPts val="600"/>
              </a:spcAft>
            </a:pPr>
            <a:r>
              <a:rPr b="1" sz="1400">
                <a:solidFill>
                  <a:srgbClr val="103672"/>
                </a:solidFill>
              </a:rPr>
              <a:t>• Kiểm tra cú pháp trước khi nạp: </a:t>
            </a:r>
            <a:r>
              <a:rPr sz="1350">
                <a:solidFill>
                  <a:srgbClr val="0F172A"/>
                </a:solidFill>
              </a:rPr>
              <a:t>Luôn chạy 'nginx -t' (hoặc 'docker compose exec proxy nginx -t') trước khi reload để tránh làm sập tiến trình.</a:t>
            </a:r>
          </a:p>
          <a:p>
            <a:pPr>
              <a:spcAft>
                <a:spcPts val="600"/>
              </a:spcAft>
            </a:pPr>
            <a:r>
              <a:rPr b="1" sz="1400">
                <a:solidFill>
                  <a:srgbClr val="103672"/>
                </a:solidFill>
              </a:rPr>
              <a:t>• Nạp cấu hình nóng không gián đoạn: </a:t>
            </a:r>
            <a:r>
              <a:rPr sz="1350">
                <a:solidFill>
                  <a:srgbClr val="0F172A"/>
                </a:solidFill>
              </a:rPr>
              <a:t>Dùng 'nginx -s reload' giúp tiến trình worker cũ phục vụ nốt request trước khi đóng an toàn.</a:t>
            </a:r>
          </a:p>
          <a:p>
            <a:pPr>
              <a:spcAft>
                <a:spcPts val="600"/>
              </a:spcAft>
            </a:pPr>
            <a:r>
              <a:rPr b="1" sz="1400">
                <a:solidFill>
                  <a:srgbClr val="103672"/>
                </a:solidFill>
              </a:rPr>
              <a:t>• Giám sát nhật ký thời gian thực: </a:t>
            </a:r>
            <a:r>
              <a:rPr sz="1350">
                <a:solidFill>
                  <a:srgbClr val="0F172A"/>
                </a:solidFill>
              </a:rPr>
              <a:t>Sử dụng 'tail -f access.log' để theo dõi lưu lượng và 'tail -f error.log' để bắt nguồn gốc lỗi.</a:t>
            </a:r>
          </a:p>
        </p:txBody>
      </p:sp>
      <p:sp>
        <p:nvSpPr>
          <p:cNvPr id="13" name="Rounded Rectangle 12"/>
          <p:cNvSpPr/>
          <p:nvPr/>
        </p:nvSpPr>
        <p:spPr>
          <a:xfrm>
            <a:off x="731520" y="3886200"/>
            <a:ext cx="3332073"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050792"/>
            <a:ext cx="2874873" cy="365760"/>
          </a:xfrm>
          <a:prstGeom prst="rect">
            <a:avLst/>
          </a:prstGeom>
          <a:noFill/>
        </p:spPr>
        <p:txBody>
          <a:bodyPr wrap="none" lIns="0" tIns="0" rIns="0" bIns="0">
            <a:spAutoFit/>
          </a:bodyPr>
          <a:lstStyle/>
          <a:p>
            <a:pPr>
              <a:defRPr sz="1600" b="1">
                <a:solidFill>
                  <a:srgbClr val="103672"/>
                </a:solidFill>
                <a:latin typeface="Segoe UI"/>
              </a:defRPr>
            </a:pPr>
            <a:r>
              <a:t>Mã lỗi: 404 Not Found</a:t>
            </a:r>
          </a:p>
        </p:txBody>
      </p:sp>
      <p:sp>
        <p:nvSpPr>
          <p:cNvPr id="15" name="TextBox 14"/>
          <p:cNvSpPr txBox="1"/>
          <p:nvPr/>
        </p:nvSpPr>
        <p:spPr>
          <a:xfrm>
            <a:off x="868680" y="4389120"/>
            <a:ext cx="3057753" cy="1645920"/>
          </a:xfrm>
          <a:prstGeom prst="rect">
            <a:avLst/>
          </a:prstGeom>
          <a:noFill/>
        </p:spPr>
        <p:txBody>
          <a:bodyPr wrap="square">
            <a:spAutoFit/>
          </a:bodyPr>
          <a:lstStyle/>
          <a:p>
            <a:pPr>
              <a:defRPr sz="1300">
                <a:solidFill>
                  <a:srgbClr val="0F172A"/>
                </a:solidFill>
              </a:defRPr>
            </a:pPr>
            <a:r>
              <a:t>• Nguyên nhân: Sai đường dẫn 'root', thiếu file tĩnh vật lý, hoặc route ảo SPA chưa cấu hình try_files.</a:t>
            </a:r>
            <a:br/>
            <a:r>
              <a:t>• Cách xử lý: Kiểm tra file trong container ('docker compose exec proxy ls /usr/share/nginx/html') và thêm 'try_files $uri $uri/ /index.html;'.</a:t>
            </a:r>
          </a:p>
        </p:txBody>
      </p:sp>
      <p:sp>
        <p:nvSpPr>
          <p:cNvPr id="16" name="Rounded Rectangle 15"/>
          <p:cNvSpPr/>
          <p:nvPr/>
        </p:nvSpPr>
        <p:spPr>
          <a:xfrm>
            <a:off x="4429353" y="3886200"/>
            <a:ext cx="3332073"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57953" y="4050792"/>
            <a:ext cx="2874873" cy="365760"/>
          </a:xfrm>
          <a:prstGeom prst="rect">
            <a:avLst/>
          </a:prstGeom>
          <a:noFill/>
        </p:spPr>
        <p:txBody>
          <a:bodyPr wrap="none" lIns="0" tIns="0" rIns="0" bIns="0">
            <a:spAutoFit/>
          </a:bodyPr>
          <a:lstStyle/>
          <a:p>
            <a:pPr>
              <a:defRPr sz="1600" b="1">
                <a:solidFill>
                  <a:srgbClr val="103672"/>
                </a:solidFill>
                <a:latin typeface="Segoe UI"/>
              </a:defRPr>
            </a:pPr>
            <a:r>
              <a:t>Mã lỗi: 413 Payload Too Large</a:t>
            </a:r>
          </a:p>
        </p:txBody>
      </p:sp>
      <p:sp>
        <p:nvSpPr>
          <p:cNvPr id="18" name="TextBox 17"/>
          <p:cNvSpPr txBox="1"/>
          <p:nvPr/>
        </p:nvSpPr>
        <p:spPr>
          <a:xfrm>
            <a:off x="4566513" y="4389120"/>
            <a:ext cx="3057753" cy="1645920"/>
          </a:xfrm>
          <a:prstGeom prst="rect">
            <a:avLst/>
          </a:prstGeom>
          <a:noFill/>
        </p:spPr>
        <p:txBody>
          <a:bodyPr wrap="square">
            <a:spAutoFit/>
          </a:bodyPr>
          <a:lstStyle/>
          <a:p>
            <a:pPr>
              <a:defRPr sz="1300">
                <a:solidFill>
                  <a:srgbClr val="0F172A"/>
                </a:solidFill>
              </a:defRPr>
            </a:pPr>
            <a:r>
              <a:t>• Nguyên nhân: Request body hoặc file upload vượt quá giới hạn 1 MB mặc định của NGINX.</a:t>
            </a:r>
            <a:br/>
            <a:r>
              <a:t>• Cách xử lý: Thêm chỉ thị 'client_max_body_size 20m;' vào server block hoặc location /api/upload, sau đó kiểm tra 'nginx -t' và reload.</a:t>
            </a:r>
          </a:p>
        </p:txBody>
      </p:sp>
      <p:sp>
        <p:nvSpPr>
          <p:cNvPr id="19" name="Rounded Rectangle 18"/>
          <p:cNvSpPr/>
          <p:nvPr/>
        </p:nvSpPr>
        <p:spPr>
          <a:xfrm>
            <a:off x="8127186" y="3886200"/>
            <a:ext cx="3332073"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55786" y="4050792"/>
            <a:ext cx="2874873" cy="365760"/>
          </a:xfrm>
          <a:prstGeom prst="rect">
            <a:avLst/>
          </a:prstGeom>
          <a:noFill/>
        </p:spPr>
        <p:txBody>
          <a:bodyPr wrap="none" lIns="0" tIns="0" rIns="0" bIns="0">
            <a:spAutoFit/>
          </a:bodyPr>
          <a:lstStyle/>
          <a:p>
            <a:pPr>
              <a:defRPr sz="1600" b="1">
                <a:solidFill>
                  <a:srgbClr val="103672"/>
                </a:solidFill>
                <a:latin typeface="Segoe UI"/>
              </a:defRPr>
            </a:pPr>
            <a:r>
              <a:t>Mã lỗi: 502 Bad Gateway</a:t>
            </a:r>
          </a:p>
        </p:txBody>
      </p:sp>
      <p:sp>
        <p:nvSpPr>
          <p:cNvPr id="21" name="TextBox 20"/>
          <p:cNvSpPr txBox="1"/>
          <p:nvPr/>
        </p:nvSpPr>
        <p:spPr>
          <a:xfrm>
            <a:off x="8264346" y="4389120"/>
            <a:ext cx="3057753" cy="1645920"/>
          </a:xfrm>
          <a:prstGeom prst="rect">
            <a:avLst/>
          </a:prstGeom>
          <a:noFill/>
        </p:spPr>
        <p:txBody>
          <a:bodyPr wrap="square">
            <a:spAutoFit/>
          </a:bodyPr>
          <a:lstStyle/>
          <a:p>
            <a:pPr>
              <a:defRPr sz="1300">
                <a:solidFill>
                  <a:srgbClr val="0F172A"/>
                </a:solidFill>
              </a:defRPr>
            </a:pPr>
            <a:r>
              <a:t>• Nguyên nhân: NGINX không thể kết nối tới backend (backend bị crash, sai cổng 3000, hoặc dùng nhầm 'localhost' thay vì Service Name Docker).</a:t>
            </a:r>
            <a:br/>
            <a:r>
              <a:t>• Cách xử lý: Soi error.log, kiểm tra 'docker compose ps' và kiểm tra cổng lắng nghe backend.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8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20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TỔNG KẾT &amp; ĐÁNH GIÁ</a:t>
            </a:r>
          </a:p>
          <a:p>
            <a:pPr>
              <a:defRPr sz="2500" b="1">
                <a:solidFill>
                  <a:srgbClr val="103672"/>
                </a:solidFill>
                <a:latin typeface="Segoe UI"/>
              </a:defRPr>
            </a:pPr>
            <a:r>
              <a:t>Tổng kết Buổi 8 &amp; Danh mục Kiểm tra Thực hành</a:t>
            </a:r>
          </a:p>
        </p:txBody>
      </p:sp>
      <p:graphicFrame>
        <p:nvGraphicFramePr>
          <p:cNvPr id="10" name="Table 9"/>
          <p:cNvGraphicFramePr>
            <a:graphicFrameLocks noGrp="1"/>
          </p:cNvGraphicFramePr>
          <p:nvPr/>
        </p:nvGraphicFramePr>
        <p:xfrm>
          <a:off x="731520" y="2057400"/>
          <a:ext cx="10728655" cy="3246120"/>
        </p:xfrm>
        <a:graphic>
          <a:graphicData uri="http://schemas.openxmlformats.org/drawingml/2006/table">
            <a:tbl>
              <a:tblPr firstRow="1" bandRow="1">
                <a:tableStyleId>{5C22544A-7EE6-4342-B048-85BDC9FD1C3A}</a:tableStyleId>
              </a:tblPr>
              <a:tblGrid>
                <a:gridCol w="1463040"/>
                <a:gridCol w="4114800"/>
                <a:gridCol w="5150815"/>
              </a:tblGrid>
              <a:tr h="463731">
                <a:tc>
                  <a:txBody>
                    <a:bodyPr/>
                    <a:lstStyle/>
                    <a:p>
                      <a:pPr>
                        <a:defRPr sz="1200" b="1">
                          <a:solidFill>
                            <a:srgbClr val="FFFFFF"/>
                          </a:solidFill>
                          <a:latin typeface="Segoe UI"/>
                        </a:defRPr>
                      </a:pPr>
                      <a:r>
                        <a:t>BƯỚC DEMO</a:t>
                      </a:r>
                    </a:p>
                  </a:txBody>
                  <a:tcPr anchor="ctr" marL="137160" marR="137160">
                    <a:solidFill>
                      <a:srgbClr val="103672"/>
                    </a:solidFill>
                  </a:tcPr>
                </a:tc>
                <a:tc>
                  <a:txBody>
                    <a:bodyPr/>
                    <a:lstStyle/>
                    <a:p>
                      <a:pPr>
                        <a:defRPr sz="1200" b="1">
                          <a:solidFill>
                            <a:srgbClr val="FFFFFF"/>
                          </a:solidFill>
                          <a:latin typeface="Segoe UI"/>
                        </a:defRPr>
                      </a:pPr>
                      <a:r>
                        <a:t>NỘI DUNG CẤU HÌNH KIỂM CHỨNG</a:t>
                      </a:r>
                    </a:p>
                  </a:txBody>
                  <a:tcPr anchor="ctr" marL="137160" marR="137160">
                    <a:solidFill>
                      <a:srgbClr val="103672"/>
                    </a:solidFill>
                  </a:tcPr>
                </a:tc>
                <a:tc>
                  <a:txBody>
                    <a:bodyPr/>
                    <a:lstStyle/>
                    <a:p>
                      <a:pPr>
                        <a:defRPr sz="1200" b="1">
                          <a:solidFill>
                            <a:srgbClr val="FFFFFF"/>
                          </a:solidFill>
                          <a:latin typeface="Segoe UI"/>
                        </a:defRPr>
                      </a:pPr>
                      <a:r>
                        <a:t>KẾT QUẢ DỰ KIẾN / THỰC TẾ</a:t>
                      </a:r>
                    </a:p>
                  </a:txBody>
                  <a:tcPr anchor="ctr" marL="137160" marR="137160">
                    <a:solidFill>
                      <a:srgbClr val="103672"/>
                    </a:solidFill>
                  </a:tcPr>
                </a:tc>
              </a:tr>
              <a:tr h="463731">
                <a:tc>
                  <a:txBody>
                    <a:bodyPr/>
                    <a:lstStyle/>
                    <a:p>
                      <a:pPr>
                        <a:defRPr sz="1200" b="1">
                          <a:solidFill>
                            <a:srgbClr val="103672"/>
                          </a:solidFill>
                          <a:latin typeface="Segoe UI"/>
                        </a:defRPr>
                      </a:pPr>
                      <a:r>
                        <a:t>Bước 1</a:t>
                      </a:r>
                    </a:p>
                  </a:txBody>
                  <a:tcPr anchor="ctr" marL="137160" marR="137160">
                    <a:solidFill>
                      <a:srgbClr val="F8FAFC"/>
                    </a:solidFill>
                  </a:tcPr>
                </a:tc>
                <a:tc>
                  <a:txBody>
                    <a:bodyPr/>
                    <a:lstStyle/>
                    <a:p>
                      <a:pPr>
                        <a:defRPr sz="1200">
                          <a:solidFill>
                            <a:srgbClr val="0F172A"/>
                          </a:solidFill>
                          <a:latin typeface="Segoe UI"/>
                        </a:defRPr>
                      </a:pPr>
                      <a:r>
                        <a:t>NGINX làm Web Server (root &amp; index)</a:t>
                      </a:r>
                    </a:p>
                  </a:txBody>
                  <a:tcPr anchor="ctr" marL="137160" marR="137160">
                    <a:solidFill>
                      <a:srgbClr val="F8FAFC"/>
                    </a:solidFill>
                  </a:tcPr>
                </a:tc>
                <a:tc>
                  <a:txBody>
                    <a:bodyPr/>
                    <a:lstStyle/>
                    <a:p>
                      <a:pPr>
                        <a:defRPr sz="1200">
                          <a:solidFill>
                            <a:srgbClr val="0F172A"/>
                          </a:solidFill>
                          <a:latin typeface="Segoe UI"/>
                        </a:defRPr>
                      </a:pPr>
                      <a:r>
                        <a:t>Tải thành công frontend tĩnh, HTTP 200 OK trang chủ.</a:t>
                      </a:r>
                    </a:p>
                  </a:txBody>
                  <a:tcPr anchor="ctr" marL="137160" marR="137160">
                    <a:solidFill>
                      <a:srgbClr val="F8FAFC"/>
                    </a:solidFill>
                  </a:tcPr>
                </a:tc>
              </a:tr>
              <a:tr h="463731">
                <a:tc>
                  <a:txBody>
                    <a:bodyPr/>
                    <a:lstStyle/>
                    <a:p>
                      <a:pPr>
                        <a:defRPr sz="1200" b="1">
                          <a:solidFill>
                            <a:srgbClr val="103672"/>
                          </a:solidFill>
                          <a:latin typeface="Segoe UI"/>
                        </a:defRPr>
                      </a:pPr>
                      <a:r>
                        <a:t>Bước 2</a:t>
                      </a:r>
                    </a:p>
                  </a:txBody>
                  <a:tcPr anchor="ctr" marL="137160" marR="137160">
                    <a:solidFill>
                      <a:srgbClr val="FFFFFF"/>
                    </a:solidFill>
                  </a:tcPr>
                </a:tc>
                <a:tc>
                  <a:txBody>
                    <a:bodyPr/>
                    <a:lstStyle/>
                    <a:p>
                      <a:pPr>
                        <a:defRPr sz="1200">
                          <a:solidFill>
                            <a:srgbClr val="0F172A"/>
                          </a:solidFill>
                          <a:latin typeface="Segoe UI"/>
                        </a:defRPr>
                      </a:pPr>
                      <a:r>
                        <a:t>Reverse Proxy FE + BE (location /api/)</a:t>
                      </a:r>
                    </a:p>
                  </a:txBody>
                  <a:tcPr anchor="ctr" marL="137160" marR="137160">
                    <a:solidFill>
                      <a:srgbClr val="FFFFFF"/>
                    </a:solidFill>
                  </a:tcPr>
                </a:tc>
                <a:tc>
                  <a:txBody>
                    <a:bodyPr/>
                    <a:lstStyle/>
                    <a:p>
                      <a:pPr>
                        <a:defRPr sz="1200">
                          <a:solidFill>
                            <a:srgbClr val="0F172A"/>
                          </a:solidFill>
                          <a:latin typeface="Segoe UI"/>
                        </a:defRPr>
                      </a:pPr>
                      <a:r>
                        <a:t>Gọi API cùng origin, tránh lỗi CORS, backend nhận X-Real-IP.</a:t>
                      </a:r>
                    </a:p>
                  </a:txBody>
                  <a:tcPr anchor="ctr" marL="137160" marR="137160">
                    <a:solidFill>
                      <a:srgbClr val="FFFFFF"/>
                    </a:solidFill>
                  </a:tcPr>
                </a:tc>
              </a:tr>
              <a:tr h="463731">
                <a:tc>
                  <a:txBody>
                    <a:bodyPr/>
                    <a:lstStyle/>
                    <a:p>
                      <a:pPr>
                        <a:defRPr sz="1200" b="1">
                          <a:solidFill>
                            <a:srgbClr val="103672"/>
                          </a:solidFill>
                          <a:latin typeface="Segoe UI"/>
                        </a:defRPr>
                      </a:pPr>
                      <a:r>
                        <a:t>Bước 3</a:t>
                      </a:r>
                    </a:p>
                  </a:txBody>
                  <a:tcPr anchor="ctr" marL="137160" marR="137160">
                    <a:solidFill>
                      <a:srgbClr val="F8FAFC"/>
                    </a:solidFill>
                  </a:tcPr>
                </a:tc>
                <a:tc>
                  <a:txBody>
                    <a:bodyPr/>
                    <a:lstStyle/>
                    <a:p>
                      <a:pPr>
                        <a:defRPr sz="1200">
                          <a:solidFill>
                            <a:srgbClr val="0F172A"/>
                          </a:solidFill>
                          <a:latin typeface="Segoe UI"/>
                        </a:defRPr>
                      </a:pPr>
                      <a:r>
                        <a:t>Upstream cân bằng tải 2 backend</a:t>
                      </a:r>
                    </a:p>
                  </a:txBody>
                  <a:tcPr anchor="ctr" marL="137160" marR="137160">
                    <a:solidFill>
                      <a:srgbClr val="F8FAFC"/>
                    </a:solidFill>
                  </a:tcPr>
                </a:tc>
                <a:tc>
                  <a:txBody>
                    <a:bodyPr/>
                    <a:lstStyle/>
                    <a:p>
                      <a:pPr>
                        <a:defRPr sz="1200">
                          <a:solidFill>
                            <a:srgbClr val="0F172A"/>
                          </a:solidFill>
                          <a:latin typeface="Segoe UI"/>
                        </a:defRPr>
                      </a:pPr>
                      <a:r>
                        <a:t>Request phân phối luân phiên Round-robin qua api1 và api2.</a:t>
                      </a:r>
                    </a:p>
                  </a:txBody>
                  <a:tcPr anchor="ctr" marL="137160" marR="137160">
                    <a:solidFill>
                      <a:srgbClr val="F8FAFC"/>
                    </a:solidFill>
                  </a:tcPr>
                </a:tc>
              </a:tr>
              <a:tr h="463731">
                <a:tc>
                  <a:txBody>
                    <a:bodyPr/>
                    <a:lstStyle/>
                    <a:p>
                      <a:pPr>
                        <a:defRPr sz="1200" b="1">
                          <a:solidFill>
                            <a:srgbClr val="103672"/>
                          </a:solidFill>
                          <a:latin typeface="Segoe UI"/>
                        </a:defRPr>
                      </a:pPr>
                      <a:r>
                        <a:t>Bước 4</a:t>
                      </a:r>
                    </a:p>
                  </a:txBody>
                  <a:tcPr anchor="ctr" marL="137160" marR="137160">
                    <a:solidFill>
                      <a:srgbClr val="FFFFFF"/>
                    </a:solidFill>
                  </a:tcPr>
                </a:tc>
                <a:tc>
                  <a:txBody>
                    <a:bodyPr/>
                    <a:lstStyle/>
                    <a:p>
                      <a:pPr>
                        <a:defRPr sz="1200">
                          <a:solidFill>
                            <a:srgbClr val="0F172A"/>
                          </a:solidFill>
                          <a:latin typeface="Segoe UI"/>
                        </a:defRPr>
                      </a:pPr>
                      <a:r>
                        <a:t>Mạng Docker Compose &amp; Service Discovery</a:t>
                      </a:r>
                    </a:p>
                  </a:txBody>
                  <a:tcPr anchor="ctr" marL="137160" marR="137160">
                    <a:solidFill>
                      <a:srgbClr val="FFFFFF"/>
                    </a:solidFill>
                  </a:tcPr>
                </a:tc>
                <a:tc>
                  <a:txBody>
                    <a:bodyPr/>
                    <a:lstStyle/>
                    <a:p>
                      <a:pPr>
                        <a:defRPr sz="1200">
                          <a:solidFill>
                            <a:srgbClr val="0F172A"/>
                          </a:solidFill>
                          <a:latin typeface="Segoe UI"/>
                        </a:defRPr>
                      </a:pPr>
                      <a:r>
                        <a:t>NGINX trỏ tới backend bằng Service Name nội bộ cổng 3000.</a:t>
                      </a:r>
                    </a:p>
                  </a:txBody>
                  <a:tcPr anchor="ctr" marL="137160" marR="137160">
                    <a:solidFill>
                      <a:srgbClr val="FFFFFF"/>
                    </a:solidFill>
                  </a:tcPr>
                </a:tc>
              </a:tr>
              <a:tr h="463731">
                <a:tc>
                  <a:txBody>
                    <a:bodyPr/>
                    <a:lstStyle/>
                    <a:p>
                      <a:pPr>
                        <a:defRPr sz="1200" b="1">
                          <a:solidFill>
                            <a:srgbClr val="103672"/>
                          </a:solidFill>
                          <a:latin typeface="Segoe UI"/>
                        </a:defRPr>
                      </a:pPr>
                      <a:r>
                        <a:t>Bước 5</a:t>
                      </a:r>
                    </a:p>
                  </a:txBody>
                  <a:tcPr anchor="ctr" marL="137160" marR="137160">
                    <a:solidFill>
                      <a:srgbClr val="F8FAFC"/>
                    </a:solidFill>
                  </a:tcPr>
                </a:tc>
                <a:tc>
                  <a:txBody>
                    <a:bodyPr/>
                    <a:lstStyle/>
                    <a:p>
                      <a:pPr>
                        <a:defRPr sz="1200">
                          <a:solidFill>
                            <a:srgbClr val="0F172A"/>
                          </a:solidFill>
                          <a:latin typeface="Segoe UI"/>
                        </a:defRPr>
                      </a:pPr>
                      <a:r>
                        <a:t>Giới hạn Request Body &amp; Hot Reload</a:t>
                      </a:r>
                    </a:p>
                  </a:txBody>
                  <a:tcPr anchor="ctr" marL="137160" marR="137160">
                    <a:solidFill>
                      <a:srgbClr val="F8FAFC"/>
                    </a:solidFill>
                  </a:tcPr>
                </a:tc>
                <a:tc>
                  <a:txBody>
                    <a:bodyPr/>
                    <a:lstStyle/>
                    <a:p>
                      <a:pPr>
                        <a:defRPr sz="1200">
                          <a:solidFill>
                            <a:srgbClr val="0F172A"/>
                          </a:solidFill>
                          <a:latin typeface="Segoe UI"/>
                        </a:defRPr>
                      </a:pPr>
                      <a:r>
                        <a:t>Bắt lỗi HTTP 413, thêm client_max_body_size 20m, reload thành công.</a:t>
                      </a:r>
                    </a:p>
                  </a:txBody>
                  <a:tcPr anchor="ctr" marL="137160" marR="137160">
                    <a:solidFill>
                      <a:srgbClr val="F8FAFC"/>
                    </a:solidFill>
                  </a:tcPr>
                </a:tc>
              </a:tr>
              <a:tr h="463734">
                <a:tc>
                  <a:txBody>
                    <a:bodyPr/>
                    <a:lstStyle/>
                    <a:p>
                      <a:pPr>
                        <a:defRPr sz="1200" b="1">
                          <a:solidFill>
                            <a:srgbClr val="103672"/>
                          </a:solidFill>
                          <a:latin typeface="Segoe UI"/>
                        </a:defRPr>
                      </a:pPr>
                      <a:r>
                        <a:t>Bước 6</a:t>
                      </a:r>
                    </a:p>
                  </a:txBody>
                  <a:tcPr anchor="ctr" marL="137160" marR="137160">
                    <a:solidFill>
                      <a:srgbClr val="FFFFFF"/>
                    </a:solidFill>
                  </a:tcPr>
                </a:tc>
                <a:tc>
                  <a:txBody>
                    <a:bodyPr/>
                    <a:lstStyle/>
                    <a:p>
                      <a:pPr>
                        <a:defRPr sz="1200">
                          <a:solidFill>
                            <a:srgbClr val="0F172A"/>
                          </a:solidFill>
                          <a:latin typeface="Segoe UI"/>
                        </a:defRPr>
                      </a:pPr>
                      <a:r>
                        <a:t>Giả lập Domain &amp; Cấu hình HTTPS</a:t>
                      </a:r>
                    </a:p>
                  </a:txBody>
                  <a:tcPr anchor="ctr" marL="137160" marR="137160">
                    <a:solidFill>
                      <a:srgbClr val="FFFFFF"/>
                    </a:solidFill>
                  </a:tcPr>
                </a:tc>
                <a:tc>
                  <a:txBody>
                    <a:bodyPr/>
                    <a:lstStyle/>
                    <a:p>
                      <a:pPr>
                        <a:defRPr sz="1200">
                          <a:solidFill>
                            <a:srgbClr val="0F172A"/>
                          </a:solidFill>
                          <a:latin typeface="Segoe UI"/>
                        </a:defRPr>
                      </a:pPr>
                      <a:r>
                        <a:t>Ánh xạ hosts, SSL tự ký có SAN, giải thích cảnh báo bảo mật.</a:t>
                      </a:r>
                    </a:p>
                  </a:txBody>
                  <a:tcPr anchor="ctr" marL="137160" marR="137160">
                    <a:solidFill>
                      <a:srgbClr val="FFFFFF"/>
                    </a:solidFill>
                  </a:tcPr>
                </a:tc>
              </a:tr>
            </a:tbl>
          </a:graphicData>
        </a:graphic>
      </p:graphicFrame>
      <p:sp>
        <p:nvSpPr>
          <p:cNvPr id="11" name="Rounded Rectangle 10"/>
          <p:cNvSpPr/>
          <p:nvPr/>
        </p:nvSpPr>
        <p:spPr>
          <a:xfrm>
            <a:off x="731520" y="5440680"/>
            <a:ext cx="10728655" cy="7772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532120"/>
            <a:ext cx="10332720" cy="621792"/>
          </a:xfrm>
          <a:prstGeom prst="rect">
            <a:avLst/>
          </a:prstGeom>
          <a:noFill/>
        </p:spPr>
        <p:txBody>
          <a:bodyPr wrap="square">
            <a:spAutoFit/>
          </a:bodyPr>
          <a:lstStyle/>
          <a:p>
            <a:pPr>
              <a:defRPr sz="1300">
                <a:solidFill>
                  <a:srgbClr val="0F172A"/>
                </a:solidFill>
                <a:latin typeface="Segoe UI"/>
              </a:defRPr>
            </a:pPr>
            <a:r>
              <a:t>Thông điệp cốt lõi: NGINX là cổng vào tối ưu (Single Entry Point) hợp nhất hạ tầng container, cân bằng tải và bảo mật kết nối.</a:t>
            </a:r>
          </a:p>
          <a:p>
            <a:pPr>
              <a:defRPr sz="1350" b="1">
                <a:solidFill>
                  <a:srgbClr val="103672"/>
                </a:solidFill>
                <a:latin typeface="Segoe UI"/>
              </a:defRPr>
            </a:pPr>
            <a:r>
              <a:t>Nhóm 8 xin trân trọng cảm ơn Thầy và các bạn đã chú ý lắng nghe bài báo cáo!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